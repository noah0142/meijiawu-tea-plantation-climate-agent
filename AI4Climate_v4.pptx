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70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5F01-D601-4856-9D7C-4FF506BB3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F5ACA-E3BA-4916-84EB-381904163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AA49B-4A84-469A-8AFD-2B43151758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EB2B-FA37-4733-BBF5-EE0B9735CA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F0372-E58B-4469-8A56-29C01BC720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B8C5-76A5-46B0-8C2B-C951D57E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BE58E-213F-41D4-BB06-594180F76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31B82-9CF7-4997-9F3A-23C4E61764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2EE80-7B8B-4DBE-9DD5-3315BB6E33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D860-0855-4BD2-8388-0074B558D1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4057-4B0A-4742-9C61-17C8E39A2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7E248-8CCF-4826-81B6-490EFFCD5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16EB6-74BF-4403-B170-224570A133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6D94E-2674-4057-99A3-39934C1AF8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61F2F-465B-45B3-8F1B-6B51839709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123CE-6EB7-4BFD-B2A2-6586693F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BF896-4F78-494E-8D46-E6BB05956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BF0F7-3E94-40FA-BAA2-282FE82CB5D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69A52-01C1-4212-8EDE-1F0F47E6C9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D5FAA-D6D2-4B74-9C13-8CFAE933EE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B2C48-02B1-4565-B260-A8E8621049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DDDF-99F3-4725-87BF-9E011D01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09648-315C-493E-8D80-50FD0EA85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3321E-A4F7-4DF9-B5E8-C72EEFF9A05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230BA-5CF9-4A68-9AEC-53838B47EF5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CAD195-1D14-45B0-83B2-95D90B8B655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EE134-AC18-4611-80D4-608518BAEC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72997-9D47-467C-B10A-644884ADE5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C19F6-A148-469B-B030-23E1163431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274C6-AEF2-46A1-8AED-7681F7E1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242C6-28A4-40B0-BE00-5F9E06A21E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6D3280-4739-495D-9739-F0F0C2B3FE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9965E-1727-4FE9-963D-0831865E85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2EC6BF-883F-45DF-ACA0-EE5956407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26DB4-A259-443F-AA25-905D566F2F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8787D-D137-4609-B295-9ADBEE0D24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72B11-30A7-4131-BE46-382F0D032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946B-C2F7-46CA-8196-148A5DFB4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6878F-DDCB-41E9-ABEA-078AD289BDC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AE07-9341-46B9-852E-30683FDD27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E143D-6353-45FC-928D-75434B1F31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88311-47D9-48CD-828C-9AE87D3F07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F973-D0FF-4F67-8CC8-4755C2AD7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344FAF-A98A-4AFB-878B-CF689907A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393CD-FE1F-4FDC-B45F-538523B695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D65F9-C356-4E72-A9A7-929477B4E0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696D4-52FE-45C5-8141-696A808121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112F1-E727-438A-8FF3-8877EE2AA2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0CE8B-832D-446D-A04D-12F110B5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BFD74-2A27-478B-B2E1-511C280D7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BB4E1-64D3-4DFA-ABA1-2B95FDAF58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2D9D8-E88E-4723-AEA1-9A9FC5B165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4F88B-CAB9-4200-8892-F7D495E843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379135-C9C3-464A-AF1C-209DAD262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827AE-1D77-499F-A0AE-CE254BE5E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5D188-004D-4149-985A-2E66F9F229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6FBA2-3F99-4EA7-8342-ADEBB28158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3D9BC-9309-4425-8607-A7341D1CD0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B3D6C-2A89-45E2-87EF-FDC469ED2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9323D-44A3-429A-AFCE-687112DFD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AF788-803B-4876-B1C0-E9C2E2EE2E8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2026/10/18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F2D0B-C29C-4491-931A-AE12ABB847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17E37-A8A3-4E29-87B2-F516A7ACC01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C188A7E-29D7-4BA2-8178-559FEDC962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0" name="Image 3">
            <a:extLst>
              <a:ext uri="{FF2B5EF4-FFF2-40B4-BE49-F238E27FC236}">
                <a16:creationId xmlns:a16="http://schemas.microsoft.com/office/drawing/2014/main" id="{2A8B108E-F50A-4275-871A-7310A2A083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4EDB1DDA-9B11-458E-9B21-982675CB6E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Polygon 12">
            <a:extLst>
              <a:ext uri="{FF2B5EF4-FFF2-40B4-BE49-F238E27FC236}">
                <a16:creationId xmlns:a16="http://schemas.microsoft.com/office/drawing/2014/main" id="{FCF3377F-12CE-41A0-BE7C-CEB1A9FB402C}"/>
              </a:ext>
            </a:extLst>
          </p:cNvPr>
          <p:cNvSpPr>
            <a:spLocks noGrp="1"/>
          </p:cNvSpPr>
          <p:nvPr/>
        </p:nvSpPr>
        <p:spPr>
          <a:xfrm>
            <a:off x="10858500" y="1333500"/>
            <a:ext cx="1333500" cy="381000"/>
          </a:xfrm>
          <a:custGeom>
            <a:avLst/>
            <a:gdLst/>
            <a:ahLst/>
            <a:cxnLst/>
            <a:rect l="l" t="t" r="r" b="b"/>
            <a:pathLst>
              <a:path w="1333500" h="381000">
                <a:moveTo>
                  <a:pt x="1333500" y="0"/>
                </a:moveTo>
                <a:lnTo>
                  <a:pt x="1333500" y="381000"/>
                </a:lnTo>
                <a:lnTo>
                  <a:pt x="0" y="381000"/>
                </a:lnTo>
                <a:lnTo>
                  <a:pt x="381000" y="0"/>
                </a:lnTo>
                <a:close/>
              </a:path>
            </a:pathLst>
          </a:custGeom>
          <a:solidFill>
            <a:srgbClr val="25C58A"/>
          </a:solidFill>
          <a:ln>
            <a:noFill/>
          </a:ln>
        </p:spPr>
      </p:sp>
      <p:sp>
        <p:nvSpPr>
          <p:cNvPr id="13" name="Polygon 13">
            <a:extLst>
              <a:ext uri="{FF2B5EF4-FFF2-40B4-BE49-F238E27FC236}">
                <a16:creationId xmlns:a16="http://schemas.microsoft.com/office/drawing/2014/main" id="{0D9348E0-206E-4B20-AF73-2A4FD0D45E67}"/>
              </a:ext>
            </a:extLst>
          </p:cNvPr>
          <p:cNvSpPr>
            <a:spLocks noGrp="1"/>
          </p:cNvSpPr>
          <p:nvPr/>
        </p:nvSpPr>
        <p:spPr>
          <a:xfrm>
            <a:off x="10887075" y="1362075"/>
            <a:ext cx="1333500" cy="381000"/>
          </a:xfrm>
          <a:custGeom>
            <a:avLst/>
            <a:gdLst/>
            <a:ahLst/>
            <a:cxnLst/>
            <a:rect l="l" t="t" r="r" b="b"/>
            <a:pathLst>
              <a:path w="1333500" h="381000">
                <a:moveTo>
                  <a:pt x="1333500" y="0"/>
                </a:moveTo>
                <a:lnTo>
                  <a:pt x="1333500" y="381000"/>
                </a:lnTo>
                <a:lnTo>
                  <a:pt x="0" y="381000"/>
                </a:lnTo>
                <a:lnTo>
                  <a:pt x="381000" y="0"/>
                </a:lnTo>
                <a:close/>
              </a:path>
            </a:pathLst>
          </a:custGeom>
          <a:solidFill>
            <a:srgbClr val="0B5D3B"/>
          </a:solidFill>
          <a:ln>
            <a:noFill/>
          </a:ln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5E05F6E-48F1-48B5-91A2-C0DF7F43D92D}"/>
              </a:ext>
            </a:extLst>
          </p:cNvPr>
          <p:cNvSpPr>
            <a:spLocks noGrp="1"/>
          </p:cNvSpPr>
          <p:nvPr/>
        </p:nvSpPr>
        <p:spPr>
          <a:xfrm>
            <a:off x="476250" y="3381375"/>
            <a:ext cx="1417055" cy="1154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7500">
                <a:solidFill>
                  <a:srgbClr val="25C58A"/>
                </a:solidFill>
                <a:latin typeface="Impact"/>
                <a:ea typeface="Impact"/>
                <a:cs typeface="Impact"/>
              </a:rPr>
              <a:t>AI 4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7469AA3-1B41-420C-9FB1-B266017DE53F}"/>
              </a:ext>
            </a:extLst>
          </p:cNvPr>
          <p:cNvSpPr>
            <a:spLocks noGrp="1"/>
          </p:cNvSpPr>
          <p:nvPr/>
        </p:nvSpPr>
        <p:spPr>
          <a:xfrm>
            <a:off x="428838" y="3349124"/>
            <a:ext cx="1417055" cy="11541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7500">
                <a:solidFill>
                  <a:srgbClr val="0B5D3B"/>
                </a:solidFill>
                <a:latin typeface="Impact"/>
                <a:ea typeface="Impact"/>
                <a:cs typeface="Impact"/>
              </a:rPr>
              <a:t>AI 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5EE9484-0ECB-4FB9-8B41-DC89BAA36AF5}"/>
              </a:ext>
            </a:extLst>
          </p:cNvPr>
          <p:cNvSpPr>
            <a:spLocks noGrp="1"/>
          </p:cNvSpPr>
          <p:nvPr/>
        </p:nvSpPr>
        <p:spPr>
          <a:xfrm>
            <a:off x="487680" y="4431030"/>
            <a:ext cx="2736850" cy="1005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6600">
                <a:solidFill>
                  <a:srgbClr val="B9E769"/>
                </a:solidFill>
                <a:latin typeface="Impact"/>
                <a:ea typeface="Impact"/>
                <a:cs typeface="Impact"/>
              </a:rPr>
              <a:t>CLIMATE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EA380F9-9F72-4C60-B998-8C65AFB94EB6}"/>
              </a:ext>
            </a:extLst>
          </p:cNvPr>
          <p:cNvSpPr>
            <a:spLocks noGrp="1"/>
          </p:cNvSpPr>
          <p:nvPr/>
        </p:nvSpPr>
        <p:spPr>
          <a:xfrm>
            <a:off x="457200" y="4391025"/>
            <a:ext cx="2736850" cy="1005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sz="6600">
                <a:solidFill>
                  <a:srgbClr val="10261D"/>
                </a:solidFill>
                <a:latin typeface="Impact"/>
                <a:ea typeface="Impact"/>
                <a:cs typeface="Impact"/>
              </a:rPr>
              <a:t>CLIMATE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ECD9117-D44E-4062-AFB0-4B79E53799FE}"/>
              </a:ext>
            </a:extLst>
          </p:cNvPr>
          <p:cNvSpPr>
            <a:spLocks noGrp="1"/>
          </p:cNvSpPr>
          <p:nvPr/>
        </p:nvSpPr>
        <p:spPr>
          <a:xfrm>
            <a:off x="510540" y="5387340"/>
            <a:ext cx="1987724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sz="4800">
                <a:solidFill>
                  <a:srgbClr val="25C58A"/>
                </a:solidFill>
                <a:latin typeface="Impact"/>
                <a:ea typeface="Impact"/>
                <a:cs typeface="Impact"/>
              </a:rPr>
              <a:t>product</a:t>
            </a:r>
          </a:p>
          <a:p>
            <a:pPr algn="l">
              <a:buNone/>
            </a:pPr>
            <a:endParaRPr sz="4800">
              <a:solidFill>
                <a:srgbClr val="25C58A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887D449-72B9-47DF-9373-1F0BDE4D02A7}"/>
              </a:ext>
            </a:extLst>
          </p:cNvPr>
          <p:cNvSpPr>
            <a:spLocks noGrp="1"/>
          </p:cNvSpPr>
          <p:nvPr/>
        </p:nvSpPr>
        <p:spPr>
          <a:xfrm>
            <a:off x="487680" y="5355089"/>
            <a:ext cx="1987724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4800">
                <a:solidFill>
                  <a:srgbClr val="0B5D3B"/>
                </a:solidFill>
                <a:latin typeface="Impact"/>
                <a:ea typeface="Impact"/>
                <a:cs typeface="Impact"/>
              </a:rPr>
              <a:t>product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3190080C-1E8F-492B-B2BD-1E4D0A25C437}"/>
              </a:ext>
            </a:extLst>
          </p:cNvPr>
          <p:cNvSpPr>
            <a:spLocks noGrp="1"/>
          </p:cNvSpPr>
          <p:nvPr/>
        </p:nvSpPr>
        <p:spPr>
          <a:xfrm>
            <a:off x="8586788" y="1937277"/>
            <a:ext cx="3048000" cy="1905000"/>
          </a:xfrm>
          <a:prstGeom prst="rect">
            <a:avLst/>
          </a:prstGeom>
          <a:solidFill>
            <a:srgbClr val="F5EFE0">
              <a:alpha val="92000"/>
            </a:srgbClr>
          </a:solidFill>
          <a:ln>
            <a:noFill/>
          </a:ln>
        </p:spPr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02407982-3620-494B-A7EA-F32F9A8143D7}"/>
              </a:ext>
            </a:extLst>
          </p:cNvPr>
          <p:cNvSpPr>
            <a:spLocks noGrp="1"/>
          </p:cNvSpPr>
          <p:nvPr/>
        </p:nvSpPr>
        <p:spPr>
          <a:xfrm>
            <a:off x="8477250" y="1864092"/>
            <a:ext cx="3048000" cy="1905000"/>
          </a:xfrm>
          <a:prstGeom prst="rect">
            <a:avLst/>
          </a:prstGeom>
          <a:solidFill>
            <a:srgbClr val="1E4DBC">
              <a:alpha val="18000"/>
            </a:srgbClr>
          </a:solidFill>
          <a:ln>
            <a:noFill/>
          </a:ln>
        </p:spPr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FB5BBB14-ED3F-478D-96CD-80D09E6E629B}"/>
              </a:ext>
            </a:extLst>
          </p:cNvPr>
          <p:cNvSpPr>
            <a:spLocks noGrp="1"/>
          </p:cNvSpPr>
          <p:nvPr/>
        </p:nvSpPr>
        <p:spPr>
          <a:xfrm>
            <a:off x="7447175" y="1940203"/>
            <a:ext cx="4173325" cy="1905000"/>
          </a:xfrm>
          <a:prstGeom prst="rect">
            <a:avLst/>
          </a:prstGeom>
          <a:solidFill>
            <a:srgbClr val="F5EFE0">
              <a:alpha val="94000"/>
            </a:srgbClr>
          </a:solidFill>
          <a:ln>
            <a:noFill/>
          </a:ln>
        </p:spPr>
        <p:txBody>
          <a:bodyPr/>
          <a:lstStyle/>
          <a:p>
            <a:r>
              <a:rPr b="1">
                <a:solidFill>
                  <a:srgbClr val="0B5D3B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89006DB-27A4-4B88-8CD4-7122E0FC347F}"/>
              </a:ext>
            </a:extLst>
          </p:cNvPr>
          <p:cNvSpPr>
            <a:spLocks noGrp="1"/>
          </p:cNvSpPr>
          <p:nvPr/>
        </p:nvSpPr>
        <p:spPr>
          <a:xfrm>
            <a:off x="8705850" y="1990725"/>
            <a:ext cx="276225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0B5D3B"/>
                </a:solidFill>
                <a:latin typeface="Arial"/>
                <a:ea typeface="Arial"/>
                <a:cs typeface="Arial"/>
              </a:rPr>
              <a:t>逐小时微气候</a:t>
            </a:r>
          </a:p>
          <a:p>
            <a:pPr algn="l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0B5D3B"/>
                </a:solidFill>
                <a:latin typeface="Arial"/>
                <a:ea typeface="Arial"/>
                <a:cs typeface="Arial"/>
              </a:rPr>
              <a:t>未来0–72小时温度变化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2F81EA4-2447-48CB-A30D-50D65675C559}"/>
              </a:ext>
            </a:extLst>
          </p:cNvPr>
          <p:cNvSpPr>
            <a:spLocks noGrp="1"/>
          </p:cNvSpPr>
          <p:nvPr/>
        </p:nvSpPr>
        <p:spPr>
          <a:xfrm>
            <a:off x="8705850" y="3209925"/>
            <a:ext cx="276225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0B5D3B"/>
                </a:solidFill>
                <a:latin typeface="Arial"/>
                <a:ea typeface="Arial"/>
                <a:cs typeface="Arial"/>
              </a:rPr>
              <a:t>农事建议</a:t>
            </a:r>
          </a:p>
          <a:p>
            <a:pPr algn="l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0B5D3B"/>
                </a:solidFill>
                <a:latin typeface="Arial"/>
                <a:ea typeface="Arial"/>
                <a:cs typeface="Arial"/>
              </a:rPr>
              <a:t>安排浇水、遮阴与采摘</a:t>
            </a:r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C1B13C9F-ECED-492B-89D9-54E4978A1236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chemeClr val="accent3">
                <a:lumMod val="50000"/>
              </a:schemeClr>
            </a:solidFill>
          </a:ln>
        </p:spPr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3B5F6D54-99B7-27C0-DC1E-119923ECF54F}"/>
              </a:ext>
            </a:extLst>
          </p:cNvPr>
          <p:cNvSpPr>
            <a:spLocks noGrp="1"/>
          </p:cNvSpPr>
          <p:nvPr/>
        </p:nvSpPr>
        <p:spPr>
          <a:xfrm>
            <a:off x="6446937" y="530393"/>
            <a:ext cx="5078313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sz="3600">
                <a:solidFill>
                  <a:srgbClr val="B9E769"/>
                </a:solidFill>
                <a:latin typeface="Impact"/>
                <a:ea typeface="Impact"/>
                <a:cs typeface="Impact"/>
              </a:rPr>
              <a:t>梅家坞茶园微气候智能体</a:t>
            </a:r>
          </a:p>
          <a:p>
            <a:pPr algn="l">
              <a:buNone/>
            </a:pPr>
            <a:endParaRPr sz="3600">
              <a:solidFill>
                <a:srgbClr val="B9E769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A8AC0653-7F1D-C80D-D9D6-0B3E341869A4}"/>
              </a:ext>
            </a:extLst>
          </p:cNvPr>
          <p:cNvSpPr>
            <a:spLocks noGrp="1"/>
          </p:cNvSpPr>
          <p:nvPr/>
        </p:nvSpPr>
        <p:spPr>
          <a:xfrm>
            <a:off x="6418362" y="511052"/>
            <a:ext cx="5078313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sz="3600">
                <a:solidFill>
                  <a:srgbClr val="10261D"/>
                </a:solidFill>
                <a:latin typeface="Impact"/>
                <a:ea typeface="Impact"/>
                <a:cs typeface="Impact"/>
              </a:rPr>
              <a:t>梅家坞茶园微气候智能体</a:t>
            </a:r>
            <a:endParaRPr sz="6600">
              <a:solidFill>
                <a:srgbClr val="10261D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35" name="TextBox 19">
            <a:extLst>
              <a:ext uri="{FF2B5EF4-FFF2-40B4-BE49-F238E27FC236}">
                <a16:creationId xmlns:a16="http://schemas.microsoft.com/office/drawing/2014/main" id="{05AC611F-8000-14E2-E331-9B719CF57C33}"/>
              </a:ext>
            </a:extLst>
          </p:cNvPr>
          <p:cNvSpPr>
            <a:spLocks noGrp="1"/>
          </p:cNvSpPr>
          <p:nvPr/>
        </p:nvSpPr>
        <p:spPr>
          <a:xfrm>
            <a:off x="4145280" y="1313903"/>
            <a:ext cx="6514989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sz="3200">
                <a:solidFill>
                  <a:srgbClr val="25C58A"/>
                </a:solidFill>
                <a:latin typeface="Impact"/>
                <a:ea typeface="Impact"/>
                <a:cs typeface="Impact"/>
              </a:rPr>
              <a:t>MeiJiaWu Tea Plantation Climate Agent</a:t>
            </a: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CCA66DA4-A328-FB42-F212-3588793105AB}"/>
              </a:ext>
            </a:extLst>
          </p:cNvPr>
          <p:cNvSpPr>
            <a:spLocks noGrp="1"/>
          </p:cNvSpPr>
          <p:nvPr/>
        </p:nvSpPr>
        <p:spPr>
          <a:xfrm>
            <a:off x="4123055" y="1291927"/>
            <a:ext cx="6514989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sz="3200">
                <a:solidFill>
                  <a:srgbClr val="0B5D3B"/>
                </a:solidFill>
                <a:latin typeface="Impact"/>
                <a:ea typeface="Impact"/>
                <a:cs typeface="Impact"/>
              </a:rPr>
              <a:t>MeiJiaWu Tea Plantation Climate Agent</a:t>
            </a:r>
            <a:endParaRPr sz="4800">
              <a:solidFill>
                <a:srgbClr val="0B5D3B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34FC16DB-C553-8BCF-B61B-3106639AAC83}"/>
              </a:ext>
            </a:extLst>
          </p:cNvPr>
          <p:cNvSpPr>
            <a:spLocks noGrp="1"/>
          </p:cNvSpPr>
          <p:nvPr/>
        </p:nvSpPr>
        <p:spPr>
          <a:xfrm>
            <a:off x="8705850" y="2600325"/>
            <a:ext cx="276225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5000"/>
              </a:lnSpc>
              <a:buNone/>
              <a:defRPr sz="1500"/>
            </a:pPr>
            <a:r>
              <a:rPr sz="1500" b="1">
                <a:latin typeface="Arial"/>
                <a:ea typeface="Arial"/>
                <a:cs typeface="Arial"/>
              </a:rPr>
              <a:t>风险预警</a:t>
            </a:r>
          </a:p>
          <a:p>
            <a:pPr>
              <a:lnSpc>
                <a:spcPct val="105000"/>
              </a:lnSpc>
              <a:buNone/>
              <a:defRPr sz="1500"/>
            </a:pPr>
            <a:r>
              <a:rPr sz="1500" b="1">
                <a:latin typeface="Arial"/>
                <a:ea typeface="Arial"/>
                <a:cs typeface="Arial"/>
              </a:rPr>
              <a:t>覆盖四类极端天气</a:t>
            </a:r>
          </a:p>
        </p:txBody>
      </p:sp>
    </p:spTree>
    <p:extLst>
      <p:ext uri="{BB962C8B-B14F-4D97-AF65-F5344CB8AC3E}">
        <p14:creationId xmlns:p14="http://schemas.microsoft.com/office/powerpoint/2010/main" val="197267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2BB4109-49C7-433B-A79A-87235B54FAB6}"/>
              </a:ext>
            </a:extLst>
          </p:cNvPr>
          <p:cNvSpPr>
            <a:spLocks noGrp="1"/>
          </p:cNvSpPr>
          <p:nvPr/>
        </p:nvSpPr>
        <p:spPr>
          <a:xfrm>
            <a:off x="-195943" y="89756"/>
            <a:ext cx="12387943" cy="7094221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5707DDA-4141-4EC6-930A-C636F8DF49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1" name="Image 5">
            <a:extLst>
              <a:ext uri="{FF2B5EF4-FFF2-40B4-BE49-F238E27FC236}">
                <a16:creationId xmlns:a16="http://schemas.microsoft.com/office/drawing/2014/main" id="{C91ADCFF-A0B6-4E1B-965F-B518C7F216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1500" y="571500"/>
            <a:ext cx="2667000" cy="56769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12A3AFA8-5837-4F5D-9701-B5600F46DC98}"/>
              </a:ext>
            </a:extLst>
          </p:cNvPr>
          <p:cNvSpPr>
            <a:spLocks noGrp="1"/>
          </p:cNvSpPr>
          <p:nvPr/>
        </p:nvSpPr>
        <p:spPr>
          <a:xfrm>
            <a:off x="571500" y="6286500"/>
            <a:ext cx="2667000" cy="3048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DA48505-5408-4FF7-B488-A3197DFB5AE0}"/>
              </a:ext>
            </a:extLst>
          </p:cNvPr>
          <p:cNvSpPr>
            <a:spLocks noGrp="1"/>
          </p:cNvSpPr>
          <p:nvPr/>
        </p:nvSpPr>
        <p:spPr>
          <a:xfrm>
            <a:off x="3539490" y="526415"/>
            <a:ext cx="1600200" cy="960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6300">
                <a:solidFill>
                  <a:srgbClr val="25C58A"/>
                </a:solidFill>
                <a:latin typeface="Impact"/>
                <a:ea typeface="Impact"/>
                <a:cs typeface="Impact"/>
              </a:rPr>
              <a:t>茶农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3383161-C9B2-4714-A356-456850364832}"/>
              </a:ext>
            </a:extLst>
          </p:cNvPr>
          <p:cNvSpPr>
            <a:spLocks noGrp="1"/>
          </p:cNvSpPr>
          <p:nvPr/>
        </p:nvSpPr>
        <p:spPr>
          <a:xfrm>
            <a:off x="3520440" y="507365"/>
            <a:ext cx="1600200" cy="960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63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茶农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BFB1D9A-B533-490A-BB45-6FEBF86A4C45}"/>
              </a:ext>
            </a:extLst>
          </p:cNvPr>
          <p:cNvSpPr>
            <a:spLocks noGrp="1"/>
          </p:cNvSpPr>
          <p:nvPr/>
        </p:nvSpPr>
        <p:spPr>
          <a:xfrm>
            <a:off x="5295900" y="500380"/>
            <a:ext cx="800100" cy="960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63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的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EF1D245-5002-4054-9E0C-D6D5CF2B32F7}"/>
              </a:ext>
            </a:extLst>
          </p:cNvPr>
          <p:cNvSpPr>
            <a:spLocks noGrp="1"/>
          </p:cNvSpPr>
          <p:nvPr/>
        </p:nvSpPr>
        <p:spPr>
          <a:xfrm>
            <a:off x="6166485" y="514985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6000">
                <a:solidFill>
                  <a:srgbClr val="0B5D3B"/>
                </a:solidFill>
                <a:latin typeface="Impact"/>
                <a:ea typeface="Impact"/>
                <a:cs typeface="Impact"/>
              </a:rPr>
              <a:t>需求调研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6E92AC0-B3B7-4593-A444-45138A49D2A7}"/>
              </a:ext>
            </a:extLst>
          </p:cNvPr>
          <p:cNvSpPr>
            <a:spLocks noGrp="1"/>
          </p:cNvSpPr>
          <p:nvPr/>
        </p:nvSpPr>
        <p:spPr>
          <a:xfrm>
            <a:off x="3884295" y="1722755"/>
            <a:ext cx="16764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高温干旱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FE277F8-E2E7-4BF3-A3E6-E6A029CD272B}"/>
              </a:ext>
            </a:extLst>
          </p:cNvPr>
          <p:cNvSpPr>
            <a:spLocks noGrp="1"/>
          </p:cNvSpPr>
          <p:nvPr/>
        </p:nvSpPr>
        <p:spPr>
          <a:xfrm>
            <a:off x="6423660" y="1725749"/>
            <a:ext cx="16764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灌溉困难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4904E4D-3056-4B23-A42A-F69619AED6F1}"/>
              </a:ext>
            </a:extLst>
          </p:cNvPr>
          <p:cNvSpPr>
            <a:spLocks noGrp="1"/>
          </p:cNvSpPr>
          <p:nvPr/>
        </p:nvSpPr>
        <p:spPr>
          <a:xfrm>
            <a:off x="8963025" y="1731554"/>
            <a:ext cx="16764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经验决策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0085FF40-F494-4EAA-8751-51EB7040B748}"/>
              </a:ext>
            </a:extLst>
          </p:cNvPr>
          <p:cNvSpPr>
            <a:spLocks noGrp="1"/>
          </p:cNvSpPr>
          <p:nvPr/>
        </p:nvSpPr>
        <p:spPr>
          <a:xfrm>
            <a:off x="3534229" y="2649900"/>
            <a:ext cx="571500" cy="5715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E44F1EA-6E58-4C0D-9408-588AEA20569A}"/>
              </a:ext>
            </a:extLst>
          </p:cNvPr>
          <p:cNvSpPr>
            <a:spLocks noGrp="1"/>
          </p:cNvSpPr>
          <p:nvPr/>
        </p:nvSpPr>
        <p:spPr>
          <a:xfrm>
            <a:off x="3632427" y="2752492"/>
            <a:ext cx="393246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24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1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7971478-75A7-4028-B636-F0588C10068F}"/>
              </a:ext>
            </a:extLst>
          </p:cNvPr>
          <p:cNvSpPr>
            <a:spLocks noGrp="1"/>
          </p:cNvSpPr>
          <p:nvPr/>
        </p:nvSpPr>
        <p:spPr>
          <a:xfrm>
            <a:off x="4281346" y="2557555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气候风险加重</a:t>
            </a:r>
          </a:p>
        </p:txBody>
      </p:sp>
      <p:pic>
        <p:nvPicPr>
          <p:cNvPr id="63" name="图片 8">
            <a:extLst>
              <a:ext uri="{FF2B5EF4-FFF2-40B4-BE49-F238E27FC236}">
                <a16:creationId xmlns:a16="http://schemas.microsoft.com/office/drawing/2014/main" id="{3F863FB5-F850-4C90-8410-B962160F46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664"/>
          <a:stretch>
            <a:fillRect/>
          </a:stretch>
        </p:blipFill>
        <p:spPr>
          <a:xfrm>
            <a:off x="10357032" y="2499358"/>
            <a:ext cx="1770315" cy="3341679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12AC82B0-5679-403F-88E4-7CE86218CD2C}"/>
              </a:ext>
            </a:extLst>
          </p:cNvPr>
          <p:cNvSpPr>
            <a:spLocks noGrp="1"/>
          </p:cNvSpPr>
          <p:nvPr/>
        </p:nvSpPr>
        <p:spPr>
          <a:xfrm>
            <a:off x="4267200" y="2952750"/>
            <a:ext cx="40957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近年高温、干旱持续时间变长，</a:t>
            </a:r>
          </a:p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倒春寒和连续降雨也影响茶芽与采摘。</a:t>
            </a: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634DB616-ED21-417E-B1B1-2F94F223D63A}"/>
              </a:ext>
            </a:extLst>
          </p:cNvPr>
          <p:cNvSpPr>
            <a:spLocks noGrp="1"/>
          </p:cNvSpPr>
          <p:nvPr/>
        </p:nvSpPr>
        <p:spPr>
          <a:xfrm>
            <a:off x="3534229" y="3659871"/>
            <a:ext cx="571500" cy="5715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D10D1F9-D38F-4691-92B2-E3CCD40C5C23}"/>
              </a:ext>
            </a:extLst>
          </p:cNvPr>
          <p:cNvSpPr>
            <a:spLocks noGrp="1"/>
          </p:cNvSpPr>
          <p:nvPr/>
        </p:nvSpPr>
        <p:spPr>
          <a:xfrm>
            <a:off x="3660435" y="3778826"/>
            <a:ext cx="337230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24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2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7CA69CF-908F-437E-8E3B-74A4DD49A985}"/>
              </a:ext>
            </a:extLst>
          </p:cNvPr>
          <p:cNvSpPr>
            <a:spLocks noGrp="1"/>
          </p:cNvSpPr>
          <p:nvPr/>
        </p:nvSpPr>
        <p:spPr>
          <a:xfrm>
            <a:off x="4281346" y="3566483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应对成本较高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82FE3FC-ACF6-445C-852C-1C828927B0A2}"/>
              </a:ext>
            </a:extLst>
          </p:cNvPr>
          <p:cNvSpPr>
            <a:spLocks noGrp="1"/>
          </p:cNvSpPr>
          <p:nvPr/>
        </p:nvSpPr>
        <p:spPr>
          <a:xfrm>
            <a:off x="4281346" y="3857677"/>
            <a:ext cx="409575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山地茶园铺设水管困难，浇水和遮阴耗时费力，</a:t>
            </a:r>
          </a:p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日常管理成本较高。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52172428-1D03-491F-A1B5-7121C3479CD6}"/>
              </a:ext>
            </a:extLst>
          </p:cNvPr>
          <p:cNvSpPr>
            <a:spLocks noGrp="1"/>
          </p:cNvSpPr>
          <p:nvPr/>
        </p:nvSpPr>
        <p:spPr>
          <a:xfrm>
            <a:off x="3534229" y="4656558"/>
            <a:ext cx="571500" cy="571500"/>
          </a:xfrm>
          <a:prstGeom prst="rect">
            <a:avLst/>
          </a:prstGeom>
          <a:solidFill>
            <a:srgbClr val="B9E769"/>
          </a:solidFill>
          <a:ln>
            <a:noFill/>
          </a:ln>
        </p:spPr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DBF00D81-8529-4A59-BB92-3FF3EE075300}"/>
              </a:ext>
            </a:extLst>
          </p:cNvPr>
          <p:cNvSpPr>
            <a:spLocks noGrp="1"/>
          </p:cNvSpPr>
          <p:nvPr/>
        </p:nvSpPr>
        <p:spPr>
          <a:xfrm>
            <a:off x="3509058" y="4756528"/>
            <a:ext cx="640942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24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3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B4E59204-9156-4990-8524-E107DA8979BC}"/>
              </a:ext>
            </a:extLst>
          </p:cNvPr>
          <p:cNvSpPr>
            <a:spLocks noGrp="1"/>
          </p:cNvSpPr>
          <p:nvPr/>
        </p:nvSpPr>
        <p:spPr>
          <a:xfrm>
            <a:off x="4305300" y="4614433"/>
            <a:ext cx="18097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天气信息难转化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8F0007A-675F-4055-A4D8-DFB288F73640}"/>
              </a:ext>
            </a:extLst>
          </p:cNvPr>
          <p:cNvSpPr>
            <a:spLocks noGrp="1"/>
          </p:cNvSpPr>
          <p:nvPr/>
        </p:nvSpPr>
        <p:spPr>
          <a:xfrm>
            <a:off x="4295775" y="4983909"/>
            <a:ext cx="40957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茶园仍依靠通用天气预报和经验判断，</a:t>
            </a:r>
          </a:p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缺少针对地块的小时级预警和操作建议。</a:t>
            </a:r>
          </a:p>
        </p:txBody>
      </p:sp>
      <p:pic>
        <p:nvPicPr>
          <p:cNvPr id="73" name="图片 46">
            <a:extLst>
              <a:ext uri="{FF2B5EF4-FFF2-40B4-BE49-F238E27FC236}">
                <a16:creationId xmlns:a16="http://schemas.microsoft.com/office/drawing/2014/main" id="{BEDF6EE0-FFAF-4DF8-A3A4-05015AB357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7807"/>
          <a:stretch>
            <a:fillRect/>
          </a:stretch>
        </p:blipFill>
        <p:spPr>
          <a:xfrm>
            <a:off x="8642532" y="2878200"/>
            <a:ext cx="1770315" cy="2960625"/>
          </a:xfrm>
          <a:prstGeom prst="rect">
            <a:avLst/>
          </a:prstGeom>
        </p:spPr>
      </p:pic>
      <p:sp>
        <p:nvSpPr>
          <p:cNvPr id="39" name="Rectangle 39">
            <a:extLst>
              <a:ext uri="{FF2B5EF4-FFF2-40B4-BE49-F238E27FC236}">
                <a16:creationId xmlns:a16="http://schemas.microsoft.com/office/drawing/2014/main" id="{7DDE99B6-BAA0-40D2-A87C-78709D8DC231}"/>
              </a:ext>
            </a:extLst>
          </p:cNvPr>
          <p:cNvSpPr>
            <a:spLocks noGrp="1"/>
          </p:cNvSpPr>
          <p:nvPr/>
        </p:nvSpPr>
        <p:spPr>
          <a:xfrm>
            <a:off x="3619500" y="5783517"/>
            <a:ext cx="8001000" cy="481056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0" name="Rectangle 40">
            <a:extLst>
              <a:ext uri="{FF2B5EF4-FFF2-40B4-BE49-F238E27FC236}">
                <a16:creationId xmlns:a16="http://schemas.microsoft.com/office/drawing/2014/main" id="{33A7B289-EFA8-4244-9C44-10121647F73D}"/>
              </a:ext>
            </a:extLst>
          </p:cNvPr>
          <p:cNvSpPr>
            <a:spLocks noGrp="1"/>
          </p:cNvSpPr>
          <p:nvPr/>
        </p:nvSpPr>
        <p:spPr>
          <a:xfrm>
            <a:off x="3648075" y="5824008"/>
            <a:ext cx="8001000" cy="469139"/>
          </a:xfrm>
          <a:prstGeom prst="rect">
            <a:avLst/>
          </a:prstGeom>
          <a:solidFill>
            <a:srgbClr val="25C5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D1E267B0-BCFB-4BF0-BE8F-A366B06FFB74}"/>
              </a:ext>
            </a:extLst>
          </p:cNvPr>
          <p:cNvSpPr>
            <a:spLocks noGrp="1"/>
          </p:cNvSpPr>
          <p:nvPr/>
        </p:nvSpPr>
        <p:spPr>
          <a:xfrm>
            <a:off x="3619500" y="5785729"/>
            <a:ext cx="8001000" cy="421693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EA43DE2-57CA-4884-88E3-F12A6F55D1E4}"/>
              </a:ext>
            </a:extLst>
          </p:cNvPr>
          <p:cNvSpPr>
            <a:spLocks noGrp="1"/>
          </p:cNvSpPr>
          <p:nvPr/>
        </p:nvSpPr>
        <p:spPr>
          <a:xfrm>
            <a:off x="3732832" y="5754943"/>
            <a:ext cx="7810500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/>
            </a:pPr>
            <a:r>
              <a:rPr sz="1500">
                <a:solidFill>
                  <a:srgbClr val="F5EFE0"/>
                </a:solidFill>
                <a:latin typeface="Arial"/>
                <a:ea typeface="Arial"/>
                <a:cs typeface="Arial"/>
              </a:rPr>
              <a:t>核心需求：具体地块的提前预警，以及可直接执行的灌溉、遮阴、采摘和加工建议。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E2501C2F-9301-418F-83C4-524D4F05DF8E}"/>
              </a:ext>
            </a:extLst>
          </p:cNvPr>
          <p:cNvSpPr>
            <a:spLocks noGrp="1"/>
          </p:cNvSpPr>
          <p:nvPr/>
        </p:nvSpPr>
        <p:spPr>
          <a:xfrm>
            <a:off x="3619500" y="6359823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00"/>
            </a:pPr>
            <a:r>
              <a:rPr sz="1800">
                <a:solidFill>
                  <a:srgbClr val="5A5A5A"/>
                </a:solidFill>
                <a:latin typeface="Consolas"/>
                <a:ea typeface="Consolas"/>
                <a:cs typeface="Consolas"/>
              </a:rPr>
              <a:t>调研材料：龙坞茶农访谈、梅家坞茶园Q&amp;A</a:t>
            </a: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1A873A84-6A89-4070-A444-C48E850CC1E5}"/>
              </a:ext>
            </a:extLst>
          </p:cNvPr>
          <p:cNvSpPr>
            <a:spLocks noGrp="1"/>
          </p:cNvSpPr>
          <p:nvPr/>
        </p:nvSpPr>
        <p:spPr>
          <a:xfrm>
            <a:off x="3520531" y="2390503"/>
            <a:ext cx="8001000" cy="9525"/>
          </a:xfrm>
          <a:custGeom>
            <a:avLst/>
            <a:gdLst/>
            <a:ahLst/>
            <a:cxnLst/>
            <a:rect l="l" t="t" r="r" b="b"/>
            <a:pathLst>
              <a:path w="8001000" h="9525">
                <a:moveTo>
                  <a:pt x="0" y="0"/>
                </a:moveTo>
                <a:lnTo>
                  <a:pt x="8001000" y="0"/>
                </a:lnTo>
              </a:path>
            </a:pathLst>
          </a:custGeom>
          <a:noFill/>
          <a:ln w="19050">
            <a:solidFill>
              <a:srgbClr val="1A1A1A"/>
            </a:solidFill>
          </a:ln>
        </p:spPr>
      </p:sp>
    </p:spTree>
    <p:extLst>
      <p:ext uri="{BB962C8B-B14F-4D97-AF65-F5344CB8AC3E}">
        <p14:creationId xmlns:p14="http://schemas.microsoft.com/office/powerpoint/2010/main" val="789148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8B5921-303E-4612-82FB-5BCDFEEADB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A14E0CB-C050-447E-A736-34F28666B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4BC971-8A04-40C1-9A98-28AC62013222}"/>
              </a:ext>
            </a:extLst>
          </p:cNvPr>
          <p:cNvSpPr>
            <a:spLocks noGrp="1"/>
          </p:cNvSpPr>
          <p:nvPr/>
        </p:nvSpPr>
        <p:spPr>
          <a:xfrm>
            <a:off x="571500" y="533400"/>
            <a:ext cx="133350" cy="6477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086815-D997-433E-A0E1-EBDF1A25E8B3}"/>
              </a:ext>
            </a:extLst>
          </p:cNvPr>
          <p:cNvSpPr>
            <a:spLocks noGrp="1"/>
          </p:cNvSpPr>
          <p:nvPr/>
        </p:nvSpPr>
        <p:spPr>
          <a:xfrm>
            <a:off x="600075" y="561975"/>
            <a:ext cx="133350" cy="6477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FD6C68-0467-4C8C-818E-DED726C32B4C}"/>
              </a:ext>
            </a:extLst>
          </p:cNvPr>
          <p:cNvSpPr>
            <a:spLocks noGrp="1"/>
          </p:cNvSpPr>
          <p:nvPr/>
        </p:nvSpPr>
        <p:spPr>
          <a:xfrm>
            <a:off x="571500" y="533400"/>
            <a:ext cx="133350" cy="6477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6C8F162-41CF-4119-82AA-E479CB3995BF}"/>
              </a:ext>
            </a:extLst>
          </p:cNvPr>
          <p:cNvSpPr>
            <a:spLocks noGrp="1"/>
          </p:cNvSpPr>
          <p:nvPr/>
        </p:nvSpPr>
        <p:spPr>
          <a:xfrm>
            <a:off x="832485" y="561022"/>
            <a:ext cx="1752600" cy="525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产品定位</a:t>
            </a: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4034A7B-9983-480C-98F7-1DF09910264F}"/>
              </a:ext>
            </a:extLst>
          </p:cNvPr>
          <p:cNvSpPr>
            <a:spLocks noGrp="1"/>
          </p:cNvSpPr>
          <p:nvPr/>
        </p:nvSpPr>
        <p:spPr>
          <a:xfrm>
            <a:off x="571500" y="1407543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60CB738F-26F0-4567-9154-7E90E262FBE3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3619500" cy="4724400"/>
          </a:xfrm>
          <a:prstGeom prst="rect">
            <a:avLst/>
          </a:prstGeom>
          <a:solidFill>
            <a:srgbClr val="FF5C8A"/>
          </a:solidFill>
          <a:ln>
            <a:noFill/>
          </a:ln>
        </p:spPr>
      </p:sp>
      <p:pic>
        <p:nvPicPr>
          <p:cNvPr id="70" name="Image 12">
            <a:extLst>
              <a:ext uri="{FF2B5EF4-FFF2-40B4-BE49-F238E27FC236}">
                <a16:creationId xmlns:a16="http://schemas.microsoft.com/office/drawing/2014/main" id="{6DD06773-9005-44D1-BDFD-5A742F5796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1500" y="1619250"/>
            <a:ext cx="3619500" cy="4724400"/>
          </a:xfrm>
          <a:prstGeom prst="rect">
            <a:avLst/>
          </a:prstGeom>
        </p:spPr>
      </p:pic>
      <p:sp>
        <p:nvSpPr>
          <p:cNvPr id="13" name="Rectangle 13">
            <a:extLst>
              <a:ext uri="{FF2B5EF4-FFF2-40B4-BE49-F238E27FC236}">
                <a16:creationId xmlns:a16="http://schemas.microsoft.com/office/drawing/2014/main" id="{CBC63C72-3E4C-4344-B577-2FAE0B9E4E6C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619500" cy="3048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43E46A0-F4BF-4E68-AF02-74D69EFB1443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7239000" cy="22288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B013862D-AD06-4195-9C7B-B953B0AEAC79}"/>
              </a:ext>
            </a:extLst>
          </p:cNvPr>
          <p:cNvSpPr>
            <a:spLocks noGrp="1"/>
          </p:cNvSpPr>
          <p:nvPr/>
        </p:nvSpPr>
        <p:spPr>
          <a:xfrm>
            <a:off x="4410075" y="1647824"/>
            <a:ext cx="7239000" cy="2475233"/>
          </a:xfrm>
          <a:prstGeom prst="rect">
            <a:avLst/>
          </a:prstGeom>
          <a:solidFill>
            <a:srgbClr val="FF5C8A">
              <a:alpha val="55000"/>
            </a:srgbClr>
          </a:solidFill>
          <a:ln>
            <a:noFill/>
          </a:ln>
        </p:spPr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EFAE0A68-31EE-4DA2-AC27-9FE802323EF2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7239000" cy="24574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5140FCD4-14DA-4B1D-BBD5-89EE80A1E50C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1524000" cy="47625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0410109-503B-4400-BD51-A51F4DFBCA32}"/>
              </a:ext>
            </a:extLst>
          </p:cNvPr>
          <p:cNvSpPr>
            <a:spLocks noGrp="1"/>
          </p:cNvSpPr>
          <p:nvPr/>
        </p:nvSpPr>
        <p:spPr>
          <a:xfrm>
            <a:off x="4545330" y="1716405"/>
            <a:ext cx="10668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服务对象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CE6A700-C178-4913-92F6-851ECE63698E}"/>
              </a:ext>
            </a:extLst>
          </p:cNvPr>
          <p:cNvSpPr>
            <a:spLocks noGrp="1"/>
          </p:cNvSpPr>
          <p:nvPr/>
        </p:nvSpPr>
        <p:spPr>
          <a:xfrm>
            <a:off x="4552950" y="2228850"/>
            <a:ext cx="67818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00"/>
            </a:defPPr>
            <a:lvl1pPr>
              <a:buNone/>
              <a:defRPr sz="1500"/>
            </a:lvl1pPr>
            <a:lvl2pPr>
              <a:buNone/>
              <a:defRPr sz="1500"/>
            </a:lvl2pPr>
            <a:lvl3pPr>
              <a:buNone/>
              <a:defRPr sz="15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algn="l">
              <a:lnSpc>
                <a:spcPct val="108000"/>
              </a:lnSpc>
              <a:buNone/>
              <a:defRPr sz="1500"/>
            </a:pPr>
            <a:r>
              <a:rPr sz="15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面向梅家坞及类似山地茶园的茶农、茶园经营者和基层农技人员，</a:t>
            </a:r>
          </a:p>
          <a:p>
            <a:pPr algn="l">
              <a:lnSpc>
                <a:spcPct val="108000"/>
              </a:lnSpc>
              <a:buNone/>
              <a:defRPr sz="1500"/>
            </a:pPr>
            <a:r>
              <a:rPr sz="15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帮助他们依据具体地块的短时天气，安排浇水、遮阴和采摘等农事。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7E80E938-C7B0-4DCE-96B1-77C1D2FB6E78}"/>
              </a:ext>
            </a:extLst>
          </p:cNvPr>
          <p:cNvSpPr>
            <a:spLocks noGrp="1"/>
          </p:cNvSpPr>
          <p:nvPr/>
        </p:nvSpPr>
        <p:spPr>
          <a:xfrm>
            <a:off x="4572000" y="2989898"/>
            <a:ext cx="2184368" cy="874254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25FA4E3-66DF-4032-91B6-B90331686EC9}"/>
              </a:ext>
            </a:extLst>
          </p:cNvPr>
          <p:cNvSpPr>
            <a:spLocks noGrp="1"/>
          </p:cNvSpPr>
          <p:nvPr/>
        </p:nvSpPr>
        <p:spPr>
          <a:xfrm>
            <a:off x="4572000" y="3022283"/>
            <a:ext cx="2184368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700"/>
            </a:defPPr>
            <a:lvl1pPr algn="ctr">
              <a:buNone/>
              <a:defRPr sz="2700"/>
            </a:lvl1pPr>
            <a:lvl2pPr algn="ctr">
              <a:buNone/>
              <a:defRPr sz="2700"/>
            </a:lvl2pPr>
            <a:lvl3pPr algn="ctr">
              <a:buNone/>
              <a:defRPr sz="2700"/>
            </a:lvl3pPr>
            <a:lvl4pPr algn="ctr">
              <a:buNone/>
              <a:defRPr sz="2700"/>
            </a:lvl4pPr>
            <a:lvl5pPr algn="ctr">
              <a:buNone/>
              <a:defRPr sz="2700"/>
            </a:lvl5pPr>
            <a:lvl6pPr algn="ctr">
              <a:buNone/>
              <a:defRPr sz="2700"/>
            </a:lvl6pPr>
            <a:lvl7pPr algn="ctr">
              <a:buNone/>
              <a:defRPr sz="2700"/>
            </a:lvl7pPr>
            <a:lvl8pPr algn="ctr">
              <a:buNone/>
              <a:defRPr sz="2700"/>
            </a:lvl8pPr>
            <a:lvl9pPr algn="ctr">
              <a:buNone/>
              <a:defRPr sz="2700"/>
            </a:lvl9pPr>
          </a:lstStyle>
          <a:p>
            <a:pPr algn="ctr">
              <a:buNone/>
              <a:defRPr sz="2700"/>
            </a:pPr>
            <a:r>
              <a:rPr sz="27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茶农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7960312-EC5C-4274-8E4F-DB58ADCAE4BA}"/>
              </a:ext>
            </a:extLst>
          </p:cNvPr>
          <p:cNvSpPr>
            <a:spLocks noGrp="1"/>
          </p:cNvSpPr>
          <p:nvPr/>
        </p:nvSpPr>
        <p:spPr>
          <a:xfrm>
            <a:off x="4572000" y="3453289"/>
            <a:ext cx="218436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/>
            </a:defPPr>
            <a:lvl1pPr algn="ctr">
              <a:buNone/>
              <a:defRPr sz="1650"/>
            </a:lvl1pPr>
            <a:lvl2pPr algn="ctr">
              <a:buNone/>
              <a:defRPr sz="1650"/>
            </a:lvl2pPr>
            <a:lvl3pPr algn="ctr">
              <a:buNone/>
              <a:defRPr sz="1650"/>
            </a:lvl3pPr>
            <a:lvl4pPr algn="ctr">
              <a:buNone/>
              <a:defRPr sz="1650"/>
            </a:lvl4pPr>
            <a:lvl5pPr algn="ctr">
              <a:buNone/>
              <a:defRPr sz="1650"/>
            </a:lvl5pPr>
            <a:lvl6pPr algn="ctr">
              <a:buNone/>
              <a:defRPr sz="1650"/>
            </a:lvl6pPr>
            <a:lvl7pPr algn="ctr">
              <a:buNone/>
              <a:defRPr sz="1650"/>
            </a:lvl7pPr>
            <a:lvl8pPr algn="ctr">
              <a:buNone/>
              <a:defRPr sz="1650"/>
            </a:lvl8pPr>
            <a:lvl9pPr algn="ctr">
              <a:buNone/>
              <a:defRPr sz="1650"/>
            </a:lvl9pPr>
          </a:lstStyle>
          <a:p>
            <a:pPr algn="ctr">
              <a:buNone/>
              <a:defRPr sz="1650"/>
            </a:pPr>
            <a:r>
              <a:rPr sz="1650">
                <a:solidFill>
                  <a:srgbClr val="F5EFE0"/>
                </a:solidFill>
                <a:latin typeface="Arial"/>
                <a:ea typeface="Arial"/>
                <a:cs typeface="Arial"/>
              </a:rPr>
              <a:t>日常种植与采摘</a:t>
            </a: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6B4C3EC8-951A-4FB1-9D14-BEE439A798C4}"/>
              </a:ext>
            </a:extLst>
          </p:cNvPr>
          <p:cNvSpPr>
            <a:spLocks noGrp="1"/>
          </p:cNvSpPr>
          <p:nvPr/>
        </p:nvSpPr>
        <p:spPr>
          <a:xfrm>
            <a:off x="6908768" y="2989898"/>
            <a:ext cx="2184368" cy="874254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8D23FD4-D8F9-49D4-B82B-F71CB6D376CE}"/>
              </a:ext>
            </a:extLst>
          </p:cNvPr>
          <p:cNvSpPr>
            <a:spLocks noGrp="1"/>
          </p:cNvSpPr>
          <p:nvPr/>
        </p:nvSpPr>
        <p:spPr>
          <a:xfrm>
            <a:off x="6908768" y="3022283"/>
            <a:ext cx="2184368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50"/>
            </a:defPPr>
            <a:lvl1pPr algn="ctr">
              <a:buNone/>
              <a:defRPr sz="2250"/>
            </a:lvl1pPr>
            <a:lvl2pPr algn="ctr">
              <a:buNone/>
              <a:defRPr sz="2250"/>
            </a:lvl2pPr>
            <a:lvl3pPr algn="ctr">
              <a:buNone/>
              <a:defRPr sz="2250"/>
            </a:lvl3pPr>
            <a:lvl4pPr algn="ctr">
              <a:buNone/>
              <a:defRPr sz="2250"/>
            </a:lvl4pPr>
            <a:lvl5pPr algn="ctr">
              <a:buNone/>
              <a:defRPr sz="2250"/>
            </a:lvl5pPr>
            <a:lvl6pPr algn="ctr">
              <a:buNone/>
              <a:defRPr sz="2250"/>
            </a:lvl6pPr>
            <a:lvl7pPr algn="ctr">
              <a:buNone/>
              <a:defRPr sz="2250"/>
            </a:lvl7pPr>
            <a:lvl8pPr algn="ctr">
              <a:buNone/>
              <a:defRPr sz="2250"/>
            </a:lvl8pPr>
            <a:lvl9pPr algn="ctr">
              <a:buNone/>
              <a:defRPr sz="2250"/>
            </a:lvl9pPr>
          </a:lstStyle>
          <a:p>
            <a:pPr algn="ctr">
              <a:buNone/>
              <a:defRPr sz="2250"/>
            </a:pPr>
            <a:r>
              <a:rPr sz="22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茶园经营者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468283C3-FDCF-4D8E-AA4A-589A4D06648E}"/>
              </a:ext>
            </a:extLst>
          </p:cNvPr>
          <p:cNvSpPr>
            <a:spLocks noGrp="1"/>
          </p:cNvSpPr>
          <p:nvPr/>
        </p:nvSpPr>
        <p:spPr>
          <a:xfrm>
            <a:off x="6908768" y="3453289"/>
            <a:ext cx="218436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/>
            </a:defPPr>
            <a:lvl1pPr algn="ctr">
              <a:buNone/>
              <a:defRPr sz="1650"/>
            </a:lvl1pPr>
            <a:lvl2pPr algn="ctr">
              <a:buNone/>
              <a:defRPr sz="1650"/>
            </a:lvl2pPr>
            <a:lvl3pPr algn="ctr">
              <a:buNone/>
              <a:defRPr sz="1650"/>
            </a:lvl3pPr>
            <a:lvl4pPr algn="ctr">
              <a:buNone/>
              <a:defRPr sz="1650"/>
            </a:lvl4pPr>
            <a:lvl5pPr algn="ctr">
              <a:buNone/>
              <a:defRPr sz="1650"/>
            </a:lvl5pPr>
            <a:lvl6pPr algn="ctr">
              <a:buNone/>
              <a:defRPr sz="1650"/>
            </a:lvl6pPr>
            <a:lvl7pPr algn="ctr">
              <a:buNone/>
              <a:defRPr sz="1650"/>
            </a:lvl7pPr>
            <a:lvl8pPr algn="ctr">
              <a:buNone/>
              <a:defRPr sz="1650"/>
            </a:lvl8pPr>
            <a:lvl9pPr algn="ctr">
              <a:buNone/>
              <a:defRPr sz="1650"/>
            </a:lvl9pPr>
          </a:lstStyle>
          <a:p>
            <a:pPr algn="ctr">
              <a:buNone/>
              <a:defRPr sz="1650"/>
            </a:pPr>
            <a:r>
              <a:rPr sz="1650">
                <a:solidFill>
                  <a:srgbClr val="F5EFE0"/>
                </a:solidFill>
                <a:latin typeface="Arial"/>
                <a:ea typeface="Arial"/>
                <a:cs typeface="Arial"/>
              </a:rPr>
              <a:t>地块与人员安排</a:t>
            </a:r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4CA3A2A9-7332-45D6-9222-D51970C6A1E8}"/>
              </a:ext>
            </a:extLst>
          </p:cNvPr>
          <p:cNvSpPr>
            <a:spLocks noGrp="1"/>
          </p:cNvSpPr>
          <p:nvPr/>
        </p:nvSpPr>
        <p:spPr>
          <a:xfrm>
            <a:off x="9245632" y="2989897"/>
            <a:ext cx="2184368" cy="874253"/>
          </a:xfrm>
          <a:prstGeom prst="rect">
            <a:avLst/>
          </a:prstGeom>
          <a:solidFill>
            <a:srgbClr val="B9E769"/>
          </a:solidFill>
          <a:ln>
            <a:noFill/>
          </a:ln>
        </p:spPr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DD1FC31-A113-4F7C-ADBB-F9F589831755}"/>
              </a:ext>
            </a:extLst>
          </p:cNvPr>
          <p:cNvSpPr>
            <a:spLocks noGrp="1"/>
          </p:cNvSpPr>
          <p:nvPr/>
        </p:nvSpPr>
        <p:spPr>
          <a:xfrm>
            <a:off x="9245632" y="3054668"/>
            <a:ext cx="21843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/>
            </a:defPPr>
            <a:lvl1pPr algn="ctr">
              <a:buNone/>
              <a:defRPr sz="2100"/>
            </a:lvl1pPr>
            <a:lvl2pPr algn="ctr">
              <a:buNone/>
              <a:defRPr sz="2100"/>
            </a:lvl2pPr>
            <a:lvl3pPr algn="ctr">
              <a:buNone/>
              <a:defRPr sz="2100"/>
            </a:lvl3pPr>
            <a:lvl4pPr algn="ctr">
              <a:buNone/>
              <a:defRPr sz="2100"/>
            </a:lvl4pPr>
            <a:lvl5pPr algn="ctr">
              <a:buNone/>
              <a:defRPr sz="2100"/>
            </a:lvl5pPr>
            <a:lvl6pPr algn="ctr">
              <a:buNone/>
              <a:defRPr sz="2100"/>
            </a:lvl6pPr>
            <a:lvl7pPr algn="ctr">
              <a:buNone/>
              <a:defRPr sz="2100"/>
            </a:lvl7pPr>
            <a:lvl8pPr algn="ctr">
              <a:buNone/>
              <a:defRPr sz="2100"/>
            </a:lvl8pPr>
            <a:lvl9pPr algn="ctr">
              <a:buNone/>
              <a:defRPr sz="2100"/>
            </a:lvl9pPr>
          </a:lstStyle>
          <a:p>
            <a:pPr algn="ctr">
              <a:buNone/>
              <a:defRPr sz="2100"/>
            </a:pPr>
            <a:r>
              <a:rPr sz="21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基层农技人员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630210DA-D56C-4030-98D3-3DE8A0DDD30B}"/>
              </a:ext>
            </a:extLst>
          </p:cNvPr>
          <p:cNvSpPr>
            <a:spLocks noGrp="1"/>
          </p:cNvSpPr>
          <p:nvPr/>
        </p:nvSpPr>
        <p:spPr>
          <a:xfrm>
            <a:off x="9245632" y="3453289"/>
            <a:ext cx="218436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/>
            </a:defPPr>
            <a:lvl1pPr algn="ctr">
              <a:buNone/>
              <a:defRPr sz="1650"/>
            </a:lvl1pPr>
            <a:lvl2pPr algn="ctr">
              <a:buNone/>
              <a:defRPr sz="1650"/>
            </a:lvl2pPr>
            <a:lvl3pPr algn="ctr">
              <a:buNone/>
              <a:defRPr sz="1650"/>
            </a:lvl3pPr>
            <a:lvl4pPr algn="ctr">
              <a:buNone/>
              <a:defRPr sz="1650"/>
            </a:lvl4pPr>
            <a:lvl5pPr algn="ctr">
              <a:buNone/>
              <a:defRPr sz="1650"/>
            </a:lvl5pPr>
            <a:lvl6pPr algn="ctr">
              <a:buNone/>
              <a:defRPr sz="1650"/>
            </a:lvl6pPr>
            <a:lvl7pPr algn="ctr">
              <a:buNone/>
              <a:defRPr sz="1650"/>
            </a:lvl7pPr>
            <a:lvl8pPr algn="ctr">
              <a:buNone/>
              <a:defRPr sz="1650"/>
            </a:lvl8pPr>
            <a:lvl9pPr algn="ctr">
              <a:buNone/>
              <a:defRPr sz="1650"/>
            </a:lvl9pPr>
          </a:lstStyle>
          <a:p>
            <a:pPr algn="ctr">
              <a:buNone/>
              <a:defRPr sz="1650"/>
            </a:pPr>
            <a:r>
              <a:rPr sz="1650">
                <a:solidFill>
                  <a:srgbClr val="1A1A1A"/>
                </a:solidFill>
                <a:latin typeface="Arial"/>
                <a:ea typeface="Arial"/>
                <a:cs typeface="Arial"/>
              </a:rPr>
              <a:t>辅助指导茶农</a:t>
            </a:r>
          </a:p>
        </p:txBody>
      </p:sp>
      <p:sp>
        <p:nvSpPr>
          <p:cNvPr id="40" name="Rectangle 40">
            <a:extLst>
              <a:ext uri="{FF2B5EF4-FFF2-40B4-BE49-F238E27FC236}">
                <a16:creationId xmlns:a16="http://schemas.microsoft.com/office/drawing/2014/main" id="{BBF387E2-CC1E-458E-96F4-8902544B9A99}"/>
              </a:ext>
            </a:extLst>
          </p:cNvPr>
          <p:cNvSpPr>
            <a:spLocks noGrp="1"/>
          </p:cNvSpPr>
          <p:nvPr/>
        </p:nvSpPr>
        <p:spPr>
          <a:xfrm>
            <a:off x="4381500" y="4401457"/>
            <a:ext cx="7239000" cy="22288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445D3192-63A3-42A6-A70C-8D5FF767D3CF}"/>
              </a:ext>
            </a:extLst>
          </p:cNvPr>
          <p:cNvSpPr>
            <a:spLocks noGrp="1"/>
          </p:cNvSpPr>
          <p:nvPr/>
        </p:nvSpPr>
        <p:spPr>
          <a:xfrm>
            <a:off x="4410075" y="4430032"/>
            <a:ext cx="7239000" cy="2228850"/>
          </a:xfrm>
          <a:prstGeom prst="rect">
            <a:avLst/>
          </a:prstGeom>
          <a:solidFill>
            <a:srgbClr val="1E4DBC">
              <a:alpha val="55000"/>
            </a:srgbClr>
          </a:solidFill>
          <a:ln>
            <a:noFill/>
          </a:ln>
        </p:spPr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6E202920-02C1-46B7-8531-892E398DDF23}"/>
              </a:ext>
            </a:extLst>
          </p:cNvPr>
          <p:cNvSpPr>
            <a:spLocks noGrp="1"/>
          </p:cNvSpPr>
          <p:nvPr/>
        </p:nvSpPr>
        <p:spPr>
          <a:xfrm>
            <a:off x="4410075" y="4230007"/>
            <a:ext cx="7239000" cy="24003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3" name="Rectangle 43">
            <a:extLst>
              <a:ext uri="{FF2B5EF4-FFF2-40B4-BE49-F238E27FC236}">
                <a16:creationId xmlns:a16="http://schemas.microsoft.com/office/drawing/2014/main" id="{57BF00B0-B243-4899-A6D9-65EB63E375E8}"/>
              </a:ext>
            </a:extLst>
          </p:cNvPr>
          <p:cNvSpPr>
            <a:spLocks noGrp="1"/>
          </p:cNvSpPr>
          <p:nvPr/>
        </p:nvSpPr>
        <p:spPr>
          <a:xfrm>
            <a:off x="4381500" y="4234546"/>
            <a:ext cx="1524000" cy="476250"/>
          </a:xfrm>
          <a:prstGeom prst="rect">
            <a:avLst/>
          </a:prstGeom>
          <a:solidFill>
            <a:srgbClr val="25C5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D374383D-2212-4622-9759-B24D41D1C12E}"/>
              </a:ext>
            </a:extLst>
          </p:cNvPr>
          <p:cNvSpPr>
            <a:spLocks noGrp="1"/>
          </p:cNvSpPr>
          <p:nvPr/>
        </p:nvSpPr>
        <p:spPr>
          <a:xfrm>
            <a:off x="4545330" y="4331701"/>
            <a:ext cx="10668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核心输出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BED4914-4293-4F21-B17B-4FA2D431AF3E}"/>
              </a:ext>
            </a:extLst>
          </p:cNvPr>
          <p:cNvSpPr>
            <a:spLocks noGrp="1"/>
          </p:cNvSpPr>
          <p:nvPr/>
        </p:nvSpPr>
        <p:spPr>
          <a:xfrm>
            <a:off x="4552950" y="4857750"/>
            <a:ext cx="67818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/>
            </a:pPr>
            <a:r>
              <a:rPr sz="15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系统将逐小时预测与风险阈值结合，</a:t>
            </a:r>
          </a:p>
          <a:p>
            <a:pPr algn="l">
              <a:lnSpc>
                <a:spcPct val="108000"/>
              </a:lnSpc>
              <a:buNone/>
              <a:defRPr sz="1500"/>
            </a:pPr>
            <a:r>
              <a:rPr sz="15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识别高温、干旱、霜冻和连阴雨，并给出对应的农事建议。</a:t>
            </a: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9583FB5F-C7F6-4289-AF5D-5F6E6D6EF027}"/>
              </a:ext>
            </a:extLst>
          </p:cNvPr>
          <p:cNvSpPr>
            <a:spLocks noGrp="1"/>
          </p:cNvSpPr>
          <p:nvPr/>
        </p:nvSpPr>
        <p:spPr>
          <a:xfrm>
            <a:off x="4572000" y="5626989"/>
            <a:ext cx="3352800" cy="878586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298FB872-9F0A-46F7-B851-BBDE0CB2F2EA}"/>
              </a:ext>
            </a:extLst>
          </p:cNvPr>
          <p:cNvSpPr>
            <a:spLocks noGrp="1"/>
          </p:cNvSpPr>
          <p:nvPr/>
        </p:nvSpPr>
        <p:spPr>
          <a:xfrm>
            <a:off x="4572000" y="5675567"/>
            <a:ext cx="3352800" cy="388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25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温度与区间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6A9AEAAE-233A-4822-88F6-59591D805B82}"/>
              </a:ext>
            </a:extLst>
          </p:cNvPr>
          <p:cNvSpPr>
            <a:spLocks noGrp="1"/>
          </p:cNvSpPr>
          <p:nvPr/>
        </p:nvSpPr>
        <p:spPr>
          <a:xfrm>
            <a:off x="4572000" y="6090379"/>
            <a:ext cx="3352800" cy="3493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>
                <a:solidFill>
                  <a:srgbClr val="F5EFE0"/>
                </a:solidFill>
                <a:latin typeface="Arial"/>
                <a:ea typeface="Arial"/>
                <a:cs typeface="Arial"/>
              </a:rPr>
              <a:t>逐小时展示</a:t>
            </a:r>
          </a:p>
        </p:txBody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0E013036-4AC4-48FF-A997-D55FF511A6DB}"/>
              </a:ext>
            </a:extLst>
          </p:cNvPr>
          <p:cNvSpPr>
            <a:spLocks noGrp="1"/>
          </p:cNvSpPr>
          <p:nvPr/>
        </p:nvSpPr>
        <p:spPr>
          <a:xfrm>
            <a:off x="8077200" y="5626988"/>
            <a:ext cx="3352800" cy="878585"/>
          </a:xfrm>
          <a:prstGeom prst="rect">
            <a:avLst/>
          </a:prstGeom>
          <a:solidFill>
            <a:srgbClr val="25C5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11361736-57FC-4977-A0AD-19F11C594E29}"/>
              </a:ext>
            </a:extLst>
          </p:cNvPr>
          <p:cNvSpPr>
            <a:spLocks noGrp="1"/>
          </p:cNvSpPr>
          <p:nvPr/>
        </p:nvSpPr>
        <p:spPr>
          <a:xfrm>
            <a:off x="8077200" y="5675567"/>
            <a:ext cx="3352800" cy="388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25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预警与建议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E9F51BDC-F3CF-4B70-AC4E-18B25269D5B0}"/>
              </a:ext>
            </a:extLst>
          </p:cNvPr>
          <p:cNvSpPr>
            <a:spLocks noGrp="1"/>
          </p:cNvSpPr>
          <p:nvPr/>
        </p:nvSpPr>
        <p:spPr>
          <a:xfrm>
            <a:off x="8077200" y="6090380"/>
            <a:ext cx="3352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>
                <a:solidFill>
                  <a:srgbClr val="F5EFE0"/>
                </a:solidFill>
                <a:latin typeface="Arial"/>
                <a:ea typeface="Arial"/>
                <a:cs typeface="Arial"/>
              </a:rPr>
              <a:t>直接安排农事</a:t>
            </a:r>
          </a:p>
        </p:txBody>
      </p:sp>
      <p:sp>
        <p:nvSpPr>
          <p:cNvPr id="60" name="Line 60">
            <a:extLst>
              <a:ext uri="{FF2B5EF4-FFF2-40B4-BE49-F238E27FC236}">
                <a16:creationId xmlns:a16="http://schemas.microsoft.com/office/drawing/2014/main" id="{D60EB5DC-1FF2-4DDD-98D8-20D7D984B4B9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1A1A"/>
            </a:solidFill>
          </a:ln>
        </p:spPr>
      </p:sp>
    </p:spTree>
    <p:extLst>
      <p:ext uri="{BB962C8B-B14F-4D97-AF65-F5344CB8AC3E}">
        <p14:creationId xmlns:p14="http://schemas.microsoft.com/office/powerpoint/2010/main" val="1151414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7E69051-D8BD-48C3-914F-5A078C606CB7}"/>
              </a:ext>
            </a:extLst>
          </p:cNvPr>
          <p:cNvSpPr>
            <a:spLocks noGrp="1"/>
          </p:cNvSpPr>
          <p:nvPr/>
        </p:nvSpPr>
        <p:spPr>
          <a:xfrm>
            <a:off x="0" y="-454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AE6B3D5-CAB7-42BE-A5BE-612CCE130D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E8CEB47-AAE2-409A-87E5-E1C5C032F227}"/>
              </a:ext>
            </a:extLst>
          </p:cNvPr>
          <p:cNvSpPr>
            <a:spLocks noGrp="1"/>
          </p:cNvSpPr>
          <p:nvPr/>
        </p:nvSpPr>
        <p:spPr>
          <a:xfrm>
            <a:off x="1083473" y="499791"/>
            <a:ext cx="243840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4800">
                <a:solidFill>
                  <a:srgbClr val="25C58A"/>
                </a:solidFill>
                <a:latin typeface="Impact"/>
                <a:ea typeface="Impact"/>
                <a:cs typeface="Impact"/>
              </a:rPr>
              <a:t>核心功能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02A0916-0C31-443A-82CF-972DCF71F1E8}"/>
              </a:ext>
            </a:extLst>
          </p:cNvPr>
          <p:cNvSpPr>
            <a:spLocks noGrp="1"/>
          </p:cNvSpPr>
          <p:nvPr/>
        </p:nvSpPr>
        <p:spPr>
          <a:xfrm>
            <a:off x="1064423" y="480741"/>
            <a:ext cx="243840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4800">
                <a:solidFill>
                  <a:srgbClr val="10261D"/>
                </a:solidFill>
                <a:latin typeface="Impact"/>
                <a:ea typeface="Impact"/>
                <a:cs typeface="Impact"/>
              </a:rPr>
              <a:t>核心功能</a:t>
            </a: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6335B92E-D9D8-4A0F-BD0D-E186134A5BF9}"/>
              </a:ext>
            </a:extLst>
          </p:cNvPr>
          <p:cNvSpPr>
            <a:spLocks noGrp="1"/>
          </p:cNvSpPr>
          <p:nvPr/>
        </p:nvSpPr>
        <p:spPr>
          <a:xfrm>
            <a:off x="769257" y="1440862"/>
            <a:ext cx="10363200" cy="187914"/>
          </a:xfrm>
          <a:custGeom>
            <a:avLst/>
            <a:gdLst/>
            <a:ahLst/>
            <a:cxnLst/>
            <a:rect l="l" t="t" r="r" b="b"/>
            <a:pathLst>
              <a:path w="8001000" h="9525">
                <a:moveTo>
                  <a:pt x="0" y="0"/>
                </a:moveTo>
                <a:lnTo>
                  <a:pt x="8001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sp>
        <p:nvSpPr>
          <p:cNvPr id="9" name="Ellipse 9">
            <a:extLst>
              <a:ext uri="{FF2B5EF4-FFF2-40B4-BE49-F238E27FC236}">
                <a16:creationId xmlns:a16="http://schemas.microsoft.com/office/drawing/2014/main" id="{3451B829-13D3-4146-B225-E4C91378C4A3}"/>
              </a:ext>
            </a:extLst>
          </p:cNvPr>
          <p:cNvSpPr>
            <a:spLocks noGrp="1"/>
          </p:cNvSpPr>
          <p:nvPr/>
        </p:nvSpPr>
        <p:spPr>
          <a:xfrm>
            <a:off x="1143000" y="1911351"/>
            <a:ext cx="1219200" cy="1219200"/>
          </a:xfrm>
          <a:prstGeom prst="ellipse">
            <a:avLst/>
          </a:prstGeom>
          <a:solidFill>
            <a:srgbClr val="1E4DBC"/>
          </a:solidFill>
          <a:ln>
            <a:noFill/>
          </a:ln>
        </p:spPr>
      </p:sp>
      <p:sp>
        <p:nvSpPr>
          <p:cNvPr id="10" name="Ellipse 10">
            <a:extLst>
              <a:ext uri="{FF2B5EF4-FFF2-40B4-BE49-F238E27FC236}">
                <a16:creationId xmlns:a16="http://schemas.microsoft.com/office/drawing/2014/main" id="{B9212E2B-22EC-4187-A415-FC4E6821592D}"/>
              </a:ext>
            </a:extLst>
          </p:cNvPr>
          <p:cNvSpPr>
            <a:spLocks noGrp="1"/>
          </p:cNvSpPr>
          <p:nvPr/>
        </p:nvSpPr>
        <p:spPr>
          <a:xfrm>
            <a:off x="1171575" y="1939926"/>
            <a:ext cx="1219200" cy="1219200"/>
          </a:xfrm>
          <a:prstGeom prst="ellipse">
            <a:avLst/>
          </a:prstGeom>
          <a:solidFill>
            <a:srgbClr val="FF5C8A">
              <a:alpha val="55000"/>
            </a:srgbClr>
          </a:solidFill>
          <a:ln>
            <a:noFill/>
          </a:ln>
        </p:spPr>
      </p:sp>
      <p:sp>
        <p:nvSpPr>
          <p:cNvPr id="11" name="Ellipse 11">
            <a:extLst>
              <a:ext uri="{FF2B5EF4-FFF2-40B4-BE49-F238E27FC236}">
                <a16:creationId xmlns:a16="http://schemas.microsoft.com/office/drawing/2014/main" id="{CDA931F6-F60B-4D9A-8B87-955F10634998}"/>
              </a:ext>
            </a:extLst>
          </p:cNvPr>
          <p:cNvSpPr>
            <a:spLocks noGrp="1"/>
          </p:cNvSpPr>
          <p:nvPr/>
        </p:nvSpPr>
        <p:spPr>
          <a:xfrm>
            <a:off x="1143000" y="1911351"/>
            <a:ext cx="1219200" cy="1219200"/>
          </a:xfrm>
          <a:prstGeom prst="ellipse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9EC4E92-092E-4926-8F6A-95F146F22F13}"/>
              </a:ext>
            </a:extLst>
          </p:cNvPr>
          <p:cNvSpPr>
            <a:spLocks noGrp="1"/>
          </p:cNvSpPr>
          <p:nvPr/>
        </p:nvSpPr>
        <p:spPr>
          <a:xfrm>
            <a:off x="1427345" y="2222819"/>
            <a:ext cx="650510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43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01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2BC8C83-C506-42D0-8CF0-94B0C7A145D0}"/>
              </a:ext>
            </a:extLst>
          </p:cNvPr>
          <p:cNvSpPr>
            <a:spLocks noGrp="1"/>
          </p:cNvSpPr>
          <p:nvPr/>
        </p:nvSpPr>
        <p:spPr>
          <a:xfrm>
            <a:off x="657225" y="3360611"/>
            <a:ext cx="21907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3200">
                <a:solidFill>
                  <a:srgbClr val="10261D"/>
                </a:solidFill>
                <a:latin typeface="Impact"/>
                <a:ea typeface="Impact"/>
                <a:cs typeface="Impact"/>
              </a:rPr>
              <a:t>选点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4C24727-20B3-4FF0-9994-003CC2B210E2}"/>
              </a:ext>
            </a:extLst>
          </p:cNvPr>
          <p:cNvSpPr>
            <a:spLocks noGrp="1"/>
          </p:cNvSpPr>
          <p:nvPr/>
        </p:nvSpPr>
        <p:spPr>
          <a:xfrm>
            <a:off x="657225" y="4000500"/>
            <a:ext cx="2190750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地图中选择茶园位置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读取经纬度、海拔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和坡度信息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建立该地块的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预测条件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74C294A5-93BA-40F6-98C4-B83DED346981}"/>
              </a:ext>
            </a:extLst>
          </p:cNvPr>
          <p:cNvSpPr>
            <a:spLocks noGrp="1"/>
          </p:cNvSpPr>
          <p:nvPr/>
        </p:nvSpPr>
        <p:spPr>
          <a:xfrm>
            <a:off x="2683673" y="2595320"/>
            <a:ext cx="838200" cy="1"/>
          </a:xfrm>
          <a:prstGeom prst="line">
            <a:avLst/>
          </a:prstGeom>
          <a:noFill/>
          <a:ln w="38100">
            <a:solidFill>
              <a:srgbClr val="1A1A1A"/>
            </a:solidFill>
            <a:tailEnd type="triangle" w="lg" len="lg"/>
          </a:ln>
        </p:spPr>
      </p:sp>
      <p:sp>
        <p:nvSpPr>
          <p:cNvPr id="21" name="Ellipse 21">
            <a:extLst>
              <a:ext uri="{FF2B5EF4-FFF2-40B4-BE49-F238E27FC236}">
                <a16:creationId xmlns:a16="http://schemas.microsoft.com/office/drawing/2014/main" id="{2BA5419D-69F1-4D54-AEE9-8CEF2790FF4A}"/>
              </a:ext>
            </a:extLst>
          </p:cNvPr>
          <p:cNvSpPr>
            <a:spLocks noGrp="1"/>
          </p:cNvSpPr>
          <p:nvPr/>
        </p:nvSpPr>
        <p:spPr>
          <a:xfrm>
            <a:off x="3814771" y="1911351"/>
            <a:ext cx="1219200" cy="121920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</p:sp>
      <p:sp>
        <p:nvSpPr>
          <p:cNvPr id="22" name="Ellipse 22">
            <a:extLst>
              <a:ext uri="{FF2B5EF4-FFF2-40B4-BE49-F238E27FC236}">
                <a16:creationId xmlns:a16="http://schemas.microsoft.com/office/drawing/2014/main" id="{F98F67B5-16A2-4425-AC47-BA903B49C974}"/>
              </a:ext>
            </a:extLst>
          </p:cNvPr>
          <p:cNvSpPr>
            <a:spLocks noGrp="1"/>
          </p:cNvSpPr>
          <p:nvPr/>
        </p:nvSpPr>
        <p:spPr>
          <a:xfrm>
            <a:off x="3843346" y="1939926"/>
            <a:ext cx="1219200" cy="1219200"/>
          </a:xfrm>
          <a:prstGeom prst="ellipse">
            <a:avLst/>
          </a:prstGeom>
          <a:solidFill>
            <a:srgbClr val="1E4DBC">
              <a:alpha val="55000"/>
            </a:srgbClr>
          </a:solidFill>
          <a:ln>
            <a:noFill/>
          </a:ln>
        </p:spPr>
      </p:sp>
      <p:sp>
        <p:nvSpPr>
          <p:cNvPr id="23" name="Ellipse 23">
            <a:extLst>
              <a:ext uri="{FF2B5EF4-FFF2-40B4-BE49-F238E27FC236}">
                <a16:creationId xmlns:a16="http://schemas.microsoft.com/office/drawing/2014/main" id="{D200FCCB-B733-402B-B3E5-387814301B05}"/>
              </a:ext>
            </a:extLst>
          </p:cNvPr>
          <p:cNvSpPr>
            <a:spLocks noGrp="1"/>
          </p:cNvSpPr>
          <p:nvPr/>
        </p:nvSpPr>
        <p:spPr>
          <a:xfrm>
            <a:off x="3814771" y="1911351"/>
            <a:ext cx="1219200" cy="1219200"/>
          </a:xfrm>
          <a:prstGeom prst="ellipse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96885CD-4CFA-4808-80FE-DF260B07A87C}"/>
              </a:ext>
            </a:extLst>
          </p:cNvPr>
          <p:cNvSpPr>
            <a:spLocks noGrp="1"/>
          </p:cNvSpPr>
          <p:nvPr/>
        </p:nvSpPr>
        <p:spPr>
          <a:xfrm>
            <a:off x="4019701" y="2222819"/>
            <a:ext cx="809339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43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02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CAF8E3E-D3F3-42C8-A4C6-3C19D7BBAB37}"/>
              </a:ext>
            </a:extLst>
          </p:cNvPr>
          <p:cNvSpPr>
            <a:spLocks noGrp="1"/>
          </p:cNvSpPr>
          <p:nvPr/>
        </p:nvSpPr>
        <p:spPr>
          <a:xfrm>
            <a:off x="3333750" y="3360611"/>
            <a:ext cx="21907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3200">
                <a:solidFill>
                  <a:srgbClr val="10261D"/>
                </a:solidFill>
                <a:latin typeface="Impact"/>
                <a:ea typeface="Impact"/>
                <a:cs typeface="Impact"/>
              </a:rPr>
              <a:t>预测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10F3E72-119D-4526-A82A-C49C9A738636}"/>
              </a:ext>
            </a:extLst>
          </p:cNvPr>
          <p:cNvSpPr>
            <a:spLocks noGrp="1"/>
          </p:cNvSpPr>
          <p:nvPr/>
        </p:nvSpPr>
        <p:spPr>
          <a:xfrm>
            <a:off x="3333750" y="4000500"/>
            <a:ext cx="2190750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查看未来72小时逐时温度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P10、P50、P90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分别代表偏低、中位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和偏高情景</a:t>
            </a:r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DC00BCDA-144A-4FFD-B7A5-04AA8A6F94DC}"/>
              </a:ext>
            </a:extLst>
          </p:cNvPr>
          <p:cNvSpPr>
            <a:spLocks noGrp="1"/>
          </p:cNvSpPr>
          <p:nvPr/>
        </p:nvSpPr>
        <p:spPr>
          <a:xfrm>
            <a:off x="5480365" y="2595319"/>
            <a:ext cx="838200" cy="1"/>
          </a:xfrm>
          <a:prstGeom prst="line">
            <a:avLst/>
          </a:prstGeom>
          <a:noFill/>
          <a:ln w="38100">
            <a:solidFill>
              <a:srgbClr val="1A1A1A"/>
            </a:solidFill>
            <a:tailEnd type="triangle" w="lg" len="lg"/>
          </a:ln>
        </p:spPr>
      </p:sp>
      <p:sp>
        <p:nvSpPr>
          <p:cNvPr id="33" name="Ellipse 33">
            <a:extLst>
              <a:ext uri="{FF2B5EF4-FFF2-40B4-BE49-F238E27FC236}">
                <a16:creationId xmlns:a16="http://schemas.microsoft.com/office/drawing/2014/main" id="{9CE606DD-D8AD-41FA-ABAA-2676C24C019A}"/>
              </a:ext>
            </a:extLst>
          </p:cNvPr>
          <p:cNvSpPr>
            <a:spLocks noGrp="1"/>
          </p:cNvSpPr>
          <p:nvPr/>
        </p:nvSpPr>
        <p:spPr>
          <a:xfrm>
            <a:off x="6738557" y="1939926"/>
            <a:ext cx="1219200" cy="1219200"/>
          </a:xfrm>
          <a:prstGeom prst="ellipse">
            <a:avLst/>
          </a:prstGeom>
          <a:solidFill>
            <a:srgbClr val="E8A02E"/>
          </a:solidFill>
          <a:ln>
            <a:noFill/>
          </a:ln>
        </p:spPr>
      </p:sp>
      <p:sp>
        <p:nvSpPr>
          <p:cNvPr id="34" name="Ellipse 34">
            <a:extLst>
              <a:ext uri="{FF2B5EF4-FFF2-40B4-BE49-F238E27FC236}">
                <a16:creationId xmlns:a16="http://schemas.microsoft.com/office/drawing/2014/main" id="{5B85FB88-6331-46FD-B30A-45A6164EB387}"/>
              </a:ext>
            </a:extLst>
          </p:cNvPr>
          <p:cNvSpPr>
            <a:spLocks noGrp="1"/>
          </p:cNvSpPr>
          <p:nvPr/>
        </p:nvSpPr>
        <p:spPr>
          <a:xfrm>
            <a:off x="6767132" y="1968501"/>
            <a:ext cx="1219200" cy="1219200"/>
          </a:xfrm>
          <a:prstGeom prst="ellipse">
            <a:avLst/>
          </a:prstGeom>
          <a:solidFill>
            <a:srgbClr val="1E4DBC">
              <a:alpha val="55000"/>
            </a:srgbClr>
          </a:solidFill>
          <a:ln>
            <a:noFill/>
          </a:ln>
        </p:spPr>
      </p:sp>
      <p:sp>
        <p:nvSpPr>
          <p:cNvPr id="35" name="Ellipse 35">
            <a:extLst>
              <a:ext uri="{FF2B5EF4-FFF2-40B4-BE49-F238E27FC236}">
                <a16:creationId xmlns:a16="http://schemas.microsoft.com/office/drawing/2014/main" id="{5EBFB175-E5C6-47AE-8648-97F8383A3F59}"/>
              </a:ext>
            </a:extLst>
          </p:cNvPr>
          <p:cNvSpPr>
            <a:spLocks noGrp="1"/>
          </p:cNvSpPr>
          <p:nvPr/>
        </p:nvSpPr>
        <p:spPr>
          <a:xfrm>
            <a:off x="6738557" y="1939926"/>
            <a:ext cx="1219200" cy="1219200"/>
          </a:xfrm>
          <a:prstGeom prst="ellipse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14676D58-2ED2-4126-8C41-387605E6CB0E}"/>
              </a:ext>
            </a:extLst>
          </p:cNvPr>
          <p:cNvSpPr>
            <a:spLocks noGrp="1"/>
          </p:cNvSpPr>
          <p:nvPr/>
        </p:nvSpPr>
        <p:spPr>
          <a:xfrm>
            <a:off x="6943487" y="2251394"/>
            <a:ext cx="809339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43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03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39ADF5F5-9FE7-4F86-8D73-7FE6CB3C7E91}"/>
              </a:ext>
            </a:extLst>
          </p:cNvPr>
          <p:cNvSpPr>
            <a:spLocks noGrp="1"/>
          </p:cNvSpPr>
          <p:nvPr/>
        </p:nvSpPr>
        <p:spPr>
          <a:xfrm>
            <a:off x="6257925" y="3367945"/>
            <a:ext cx="21907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3200">
                <a:solidFill>
                  <a:srgbClr val="10261D"/>
                </a:solidFill>
                <a:latin typeface="Impact"/>
                <a:ea typeface="Impact"/>
                <a:cs typeface="Impact"/>
              </a:rPr>
              <a:t>预警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E2E2D4D4-FAAA-4AB4-A8F4-EC26A8166070}"/>
              </a:ext>
            </a:extLst>
          </p:cNvPr>
          <p:cNvSpPr>
            <a:spLocks noGrp="1"/>
          </p:cNvSpPr>
          <p:nvPr/>
        </p:nvSpPr>
        <p:spPr>
          <a:xfrm>
            <a:off x="6257925" y="4000500"/>
            <a:ext cx="2190750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按阈值识别高温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干旱、霜冻和连阴雨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标出风险出现的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时间与程度</a:t>
            </a:r>
          </a:p>
        </p:txBody>
      </p:sp>
      <p:sp>
        <p:nvSpPr>
          <p:cNvPr id="44" name="Line 44">
            <a:extLst>
              <a:ext uri="{FF2B5EF4-FFF2-40B4-BE49-F238E27FC236}">
                <a16:creationId xmlns:a16="http://schemas.microsoft.com/office/drawing/2014/main" id="{928F7625-7354-44CE-835C-77FB3AFAEF6D}"/>
              </a:ext>
            </a:extLst>
          </p:cNvPr>
          <p:cNvSpPr>
            <a:spLocks noGrp="1"/>
          </p:cNvSpPr>
          <p:nvPr/>
        </p:nvSpPr>
        <p:spPr>
          <a:xfrm>
            <a:off x="8352506" y="2599839"/>
            <a:ext cx="838200" cy="1"/>
          </a:xfrm>
          <a:prstGeom prst="line">
            <a:avLst/>
          </a:prstGeom>
          <a:noFill/>
          <a:ln w="38100">
            <a:solidFill>
              <a:srgbClr val="1A1A1A"/>
            </a:solidFill>
            <a:tailEnd type="triangle" w="lg" len="lg"/>
          </a:ln>
        </p:spPr>
      </p:sp>
      <p:sp>
        <p:nvSpPr>
          <p:cNvPr id="45" name="Ellipse 45">
            <a:extLst>
              <a:ext uri="{FF2B5EF4-FFF2-40B4-BE49-F238E27FC236}">
                <a16:creationId xmlns:a16="http://schemas.microsoft.com/office/drawing/2014/main" id="{E98D255A-6844-47C5-97F1-FB8CF764180A}"/>
              </a:ext>
            </a:extLst>
          </p:cNvPr>
          <p:cNvSpPr>
            <a:spLocks noGrp="1"/>
          </p:cNvSpPr>
          <p:nvPr/>
        </p:nvSpPr>
        <p:spPr>
          <a:xfrm>
            <a:off x="9495401" y="1985720"/>
            <a:ext cx="1219200" cy="12192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6" name="Ellipse 46">
            <a:extLst>
              <a:ext uri="{FF2B5EF4-FFF2-40B4-BE49-F238E27FC236}">
                <a16:creationId xmlns:a16="http://schemas.microsoft.com/office/drawing/2014/main" id="{FD3C07F0-B462-4A70-9338-D57E3A3DBABA}"/>
              </a:ext>
            </a:extLst>
          </p:cNvPr>
          <p:cNvSpPr>
            <a:spLocks noGrp="1"/>
          </p:cNvSpPr>
          <p:nvPr/>
        </p:nvSpPr>
        <p:spPr>
          <a:xfrm>
            <a:off x="9523976" y="2014295"/>
            <a:ext cx="1219200" cy="1219200"/>
          </a:xfrm>
          <a:prstGeom prst="ellipse">
            <a:avLst/>
          </a:prstGeom>
          <a:solidFill>
            <a:srgbClr val="FF5C8A">
              <a:alpha val="55000"/>
            </a:srgbClr>
          </a:solidFill>
          <a:ln>
            <a:noFill/>
          </a:ln>
        </p:spPr>
      </p:sp>
      <p:sp>
        <p:nvSpPr>
          <p:cNvPr id="47" name="Ellipse 47">
            <a:extLst>
              <a:ext uri="{FF2B5EF4-FFF2-40B4-BE49-F238E27FC236}">
                <a16:creationId xmlns:a16="http://schemas.microsoft.com/office/drawing/2014/main" id="{91FAA7A3-FF67-49B7-A8BF-7B10BEE86387}"/>
              </a:ext>
            </a:extLst>
          </p:cNvPr>
          <p:cNvSpPr>
            <a:spLocks noGrp="1"/>
          </p:cNvSpPr>
          <p:nvPr/>
        </p:nvSpPr>
        <p:spPr>
          <a:xfrm>
            <a:off x="9495401" y="1985720"/>
            <a:ext cx="1219200" cy="1219200"/>
          </a:xfrm>
          <a:prstGeom prst="ellipse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DE84FF7-9E27-45D7-AE50-196AF26EEA4C}"/>
              </a:ext>
            </a:extLst>
          </p:cNvPr>
          <p:cNvSpPr>
            <a:spLocks noGrp="1"/>
          </p:cNvSpPr>
          <p:nvPr/>
        </p:nvSpPr>
        <p:spPr>
          <a:xfrm>
            <a:off x="9700331" y="2297188"/>
            <a:ext cx="809339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4350">
                <a:solidFill>
                  <a:srgbClr val="FF5C8A"/>
                </a:solidFill>
                <a:latin typeface="Impact"/>
                <a:ea typeface="Impact"/>
                <a:cs typeface="Impact"/>
              </a:rPr>
              <a:t>04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1FD64657-9145-43A0-AEE9-5D71D064A806}"/>
              </a:ext>
            </a:extLst>
          </p:cNvPr>
          <p:cNvSpPr>
            <a:spLocks noGrp="1"/>
          </p:cNvSpPr>
          <p:nvPr/>
        </p:nvSpPr>
        <p:spPr>
          <a:xfrm>
            <a:off x="9010650" y="3356420"/>
            <a:ext cx="21907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3200">
                <a:solidFill>
                  <a:srgbClr val="10261D"/>
                </a:solidFill>
                <a:latin typeface="Impact"/>
                <a:ea typeface="Impact"/>
                <a:cs typeface="Impact"/>
              </a:rPr>
              <a:t>问答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0C86AF70-E559-4559-ADE7-3190C3CF181B}"/>
              </a:ext>
            </a:extLst>
          </p:cNvPr>
          <p:cNvSpPr>
            <a:spLocks noGrp="1"/>
          </p:cNvSpPr>
          <p:nvPr/>
        </p:nvSpPr>
        <p:spPr>
          <a:xfrm>
            <a:off x="9010650" y="4000500"/>
            <a:ext cx="2190750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直接询问遇到的问题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>
                <a:solidFill>
                  <a:srgbClr val="1A1A1A"/>
                </a:solidFill>
                <a:latin typeface="Arial"/>
                <a:ea typeface="Arial"/>
                <a:cs typeface="Arial"/>
              </a:rPr>
              <a:t>或者管理方法</a:t>
            </a:r>
            <a:endParaRPr sz="1800">
              <a:solidFill>
                <a:srgbClr val="1A1A1A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系统结合预测结果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和茶叶生产知识</a:t>
            </a:r>
          </a:p>
          <a:p>
            <a:pPr algn="ctr">
              <a:lnSpc>
                <a:spcPct val="100000"/>
              </a:lnSpc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生成农事建议</a:t>
            </a:r>
          </a:p>
        </p:txBody>
      </p:sp>
      <p:sp>
        <p:nvSpPr>
          <p:cNvPr id="62" name="Rectangle 62">
            <a:extLst>
              <a:ext uri="{FF2B5EF4-FFF2-40B4-BE49-F238E27FC236}">
                <a16:creationId xmlns:a16="http://schemas.microsoft.com/office/drawing/2014/main" id="{CA366935-F94C-4E3C-8388-FAA95C2037BC}"/>
              </a:ext>
            </a:extLst>
          </p:cNvPr>
          <p:cNvSpPr>
            <a:spLocks noGrp="1"/>
          </p:cNvSpPr>
          <p:nvPr/>
        </p:nvSpPr>
        <p:spPr>
          <a:xfrm>
            <a:off x="571500" y="5737680"/>
            <a:ext cx="11049000" cy="571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63" name="Rectangle 63">
            <a:extLst>
              <a:ext uri="{FF2B5EF4-FFF2-40B4-BE49-F238E27FC236}">
                <a16:creationId xmlns:a16="http://schemas.microsoft.com/office/drawing/2014/main" id="{35D0070B-5A5D-410D-8D4F-F1F354F2B1DD}"/>
              </a:ext>
            </a:extLst>
          </p:cNvPr>
          <p:cNvSpPr>
            <a:spLocks noGrp="1"/>
          </p:cNvSpPr>
          <p:nvPr/>
        </p:nvSpPr>
        <p:spPr>
          <a:xfrm>
            <a:off x="600075" y="5766255"/>
            <a:ext cx="11049000" cy="5715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64" name="Rectangle 64">
            <a:extLst>
              <a:ext uri="{FF2B5EF4-FFF2-40B4-BE49-F238E27FC236}">
                <a16:creationId xmlns:a16="http://schemas.microsoft.com/office/drawing/2014/main" id="{FF113692-8D33-426F-9A4D-C0B2B3061F41}"/>
              </a:ext>
            </a:extLst>
          </p:cNvPr>
          <p:cNvSpPr>
            <a:spLocks noGrp="1"/>
          </p:cNvSpPr>
          <p:nvPr/>
        </p:nvSpPr>
        <p:spPr>
          <a:xfrm>
            <a:off x="571500" y="5737680"/>
            <a:ext cx="11049000" cy="57150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D28297DC-830E-4C9D-95D2-0D2F1CE981E0}"/>
              </a:ext>
            </a:extLst>
          </p:cNvPr>
          <p:cNvSpPr>
            <a:spLocks noGrp="1"/>
          </p:cNvSpPr>
          <p:nvPr/>
        </p:nvSpPr>
        <p:spPr>
          <a:xfrm>
            <a:off x="762000" y="5868543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四个功能围绕同一地块工作：先确定位置，再查看预测、判断风险并安排农事。</a:t>
            </a:r>
          </a:p>
        </p:txBody>
      </p:sp>
    </p:spTree>
    <p:extLst>
      <p:ext uri="{BB962C8B-B14F-4D97-AF65-F5344CB8AC3E}">
        <p14:creationId xmlns:p14="http://schemas.microsoft.com/office/powerpoint/2010/main" val="637884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7D3D652-FFC8-430E-95B7-B971F6F8FB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FB889FF-73F5-4ACB-BE2F-64D4D058243F}"/>
              </a:ext>
            </a:extLst>
          </p:cNvPr>
          <p:cNvSpPr>
            <a:spLocks noGrp="1"/>
          </p:cNvSpPr>
          <p:nvPr/>
        </p:nvSpPr>
        <p:spPr>
          <a:xfrm>
            <a:off x="2209800" y="1304925"/>
            <a:ext cx="7810500" cy="4714875"/>
          </a:xfrm>
          <a:prstGeom prst="rect">
            <a:avLst/>
          </a:prstGeom>
          <a:solidFill>
            <a:srgbClr val="FF5C8A"/>
          </a:solidFill>
          <a:ln>
            <a:noFill/>
          </a:ln>
        </p:spPr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23857B6C-CBCA-406D-8BAE-E3344F62C3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0" r="3410"/>
          <a:stretch>
            <a:fillRect/>
          </a:stretch>
        </p:blipFill>
        <p:spPr>
          <a:xfrm>
            <a:off x="2190750" y="1285875"/>
            <a:ext cx="7810500" cy="4714875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DA749A7F-E0B9-4B04-9D43-28484EF533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1650527-7D17-43EB-B3F2-E7195556D76E}"/>
              </a:ext>
            </a:extLst>
          </p:cNvPr>
          <p:cNvSpPr>
            <a:spLocks noGrp="1"/>
          </p:cNvSpPr>
          <p:nvPr/>
        </p:nvSpPr>
        <p:spPr>
          <a:xfrm>
            <a:off x="571500" y="533400"/>
            <a:ext cx="133350" cy="6477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6BB49B73-8F55-471D-B987-380C61F1426E}"/>
              </a:ext>
            </a:extLst>
          </p:cNvPr>
          <p:cNvSpPr>
            <a:spLocks noGrp="1"/>
          </p:cNvSpPr>
          <p:nvPr/>
        </p:nvSpPr>
        <p:spPr>
          <a:xfrm>
            <a:off x="600075" y="561975"/>
            <a:ext cx="133350" cy="6477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AA8702FF-DAC1-4ADE-870B-AAC55B7160EB}"/>
              </a:ext>
            </a:extLst>
          </p:cNvPr>
          <p:cNvSpPr>
            <a:spLocks noGrp="1"/>
          </p:cNvSpPr>
          <p:nvPr/>
        </p:nvSpPr>
        <p:spPr>
          <a:xfrm>
            <a:off x="571500" y="533400"/>
            <a:ext cx="133350" cy="6477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CE3CACE-E7B7-4153-B703-B181839B6524}"/>
              </a:ext>
            </a:extLst>
          </p:cNvPr>
          <p:cNvSpPr>
            <a:spLocks noGrp="1"/>
          </p:cNvSpPr>
          <p:nvPr/>
        </p:nvSpPr>
        <p:spPr>
          <a:xfrm>
            <a:off x="832485" y="561022"/>
            <a:ext cx="1752600" cy="525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使用流程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661455B2-322F-41C3-8CEC-B540C91EC304}"/>
              </a:ext>
            </a:extLst>
          </p:cNvPr>
          <p:cNvSpPr>
            <a:spLocks noGrp="1"/>
          </p:cNvSpPr>
          <p:nvPr/>
        </p:nvSpPr>
        <p:spPr>
          <a:xfrm>
            <a:off x="9334500" y="564833"/>
            <a:ext cx="2095500" cy="1000125"/>
          </a:xfrm>
          <a:prstGeom prst="rect">
            <a:avLst/>
          </a:prstGeom>
          <a:solidFill>
            <a:srgbClr val="1E4DBC"/>
          </a:solidFill>
          <a:ln>
            <a:noFill/>
          </a:ln>
        </p:spPr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F15CC801-FC00-4104-BF0C-C9733ED60512}"/>
              </a:ext>
            </a:extLst>
          </p:cNvPr>
          <p:cNvSpPr>
            <a:spLocks noGrp="1"/>
          </p:cNvSpPr>
          <p:nvPr/>
        </p:nvSpPr>
        <p:spPr>
          <a:xfrm>
            <a:off x="9363075" y="593408"/>
            <a:ext cx="2095500" cy="1000125"/>
          </a:xfrm>
          <a:prstGeom prst="rect">
            <a:avLst/>
          </a:prstGeom>
          <a:solidFill>
            <a:srgbClr val="FF5C8A">
              <a:alpha val="60000"/>
            </a:srgbClr>
          </a:solidFill>
          <a:ln>
            <a:noFill/>
          </a:ln>
        </p:spPr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7ACF4DDB-399A-4ADC-89A9-95084BB57FF8}"/>
              </a:ext>
            </a:extLst>
          </p:cNvPr>
          <p:cNvSpPr>
            <a:spLocks noGrp="1"/>
          </p:cNvSpPr>
          <p:nvPr/>
        </p:nvSpPr>
        <p:spPr>
          <a:xfrm>
            <a:off x="9334500" y="564833"/>
            <a:ext cx="2095500" cy="1000125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650A281-EC82-4C0B-AF38-5F564BD3C484}"/>
              </a:ext>
            </a:extLst>
          </p:cNvPr>
          <p:cNvSpPr>
            <a:spLocks noGrp="1"/>
          </p:cNvSpPr>
          <p:nvPr/>
        </p:nvSpPr>
        <p:spPr>
          <a:xfrm>
            <a:off x="9458325" y="641033"/>
            <a:ext cx="296862" cy="388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5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01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E801313-F5BA-426F-B672-DA13A9DB22CC}"/>
              </a:ext>
            </a:extLst>
          </p:cNvPr>
          <p:cNvSpPr>
            <a:spLocks noGrp="1"/>
          </p:cNvSpPr>
          <p:nvPr/>
        </p:nvSpPr>
        <p:spPr>
          <a:xfrm>
            <a:off x="10001250" y="964883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选择位置</a:t>
            </a:r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38BD342C-BB1B-4F27-9E3B-9CE29A876D9B}"/>
              </a:ext>
            </a:extLst>
          </p:cNvPr>
          <p:cNvSpPr>
            <a:spLocks noGrp="1"/>
          </p:cNvSpPr>
          <p:nvPr/>
        </p:nvSpPr>
        <p:spPr>
          <a:xfrm>
            <a:off x="6257925" y="2195512"/>
            <a:ext cx="2095500" cy="1000125"/>
          </a:xfrm>
          <a:prstGeom prst="rect">
            <a:avLst/>
          </a:prstGeom>
          <a:solidFill>
            <a:srgbClr val="FF5C8A"/>
          </a:solidFill>
          <a:ln>
            <a:noFill/>
          </a:ln>
        </p:spPr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0845314D-A39F-4D78-A80E-D2FF3B781E23}"/>
              </a:ext>
            </a:extLst>
          </p:cNvPr>
          <p:cNvSpPr>
            <a:spLocks noGrp="1"/>
          </p:cNvSpPr>
          <p:nvPr/>
        </p:nvSpPr>
        <p:spPr>
          <a:xfrm>
            <a:off x="6286500" y="2224087"/>
            <a:ext cx="2095500" cy="1000125"/>
          </a:xfrm>
          <a:prstGeom prst="rect">
            <a:avLst/>
          </a:prstGeom>
          <a:solidFill>
            <a:srgbClr val="1E4DBC">
              <a:alpha val="60000"/>
            </a:srgbClr>
          </a:solidFill>
          <a:ln>
            <a:noFill/>
          </a:ln>
        </p:spPr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14550F3D-15FD-41FB-A06E-BE3FCB420825}"/>
              </a:ext>
            </a:extLst>
          </p:cNvPr>
          <p:cNvSpPr>
            <a:spLocks noGrp="1"/>
          </p:cNvSpPr>
          <p:nvPr/>
        </p:nvSpPr>
        <p:spPr>
          <a:xfrm>
            <a:off x="6257925" y="2195512"/>
            <a:ext cx="2095500" cy="1000125"/>
          </a:xfrm>
          <a:prstGeom prst="rect">
            <a:avLst/>
          </a:prstGeom>
          <a:solidFill>
            <a:srgbClr val="25C5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6889CFC-C34D-4E7F-A272-724276D3E9B8}"/>
              </a:ext>
            </a:extLst>
          </p:cNvPr>
          <p:cNvSpPr>
            <a:spLocks noGrp="1"/>
          </p:cNvSpPr>
          <p:nvPr/>
        </p:nvSpPr>
        <p:spPr>
          <a:xfrm>
            <a:off x="6381750" y="2271712"/>
            <a:ext cx="334963" cy="388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5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02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212BE27-D17E-422C-9EB4-E4BD2A9DB1CD}"/>
              </a:ext>
            </a:extLst>
          </p:cNvPr>
          <p:cNvSpPr>
            <a:spLocks noGrp="1"/>
          </p:cNvSpPr>
          <p:nvPr/>
        </p:nvSpPr>
        <p:spPr>
          <a:xfrm>
            <a:off x="6924675" y="2595562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查看预测</a:t>
            </a:r>
          </a:p>
        </p:txBody>
      </p:sp>
      <p:sp>
        <p:nvSpPr>
          <p:cNvPr id="36" name="Ellipse 36">
            <a:extLst>
              <a:ext uri="{FF2B5EF4-FFF2-40B4-BE49-F238E27FC236}">
                <a16:creationId xmlns:a16="http://schemas.microsoft.com/office/drawing/2014/main" id="{7C4965AE-1BE9-40B5-BE21-B11F523FF08F}"/>
              </a:ext>
            </a:extLst>
          </p:cNvPr>
          <p:cNvSpPr>
            <a:spLocks noGrp="1"/>
          </p:cNvSpPr>
          <p:nvPr/>
        </p:nvSpPr>
        <p:spPr>
          <a:xfrm>
            <a:off x="3200400" y="5534025"/>
            <a:ext cx="152400" cy="152400"/>
          </a:xfrm>
          <a:prstGeom prst="ellipse">
            <a:avLst/>
          </a:prstGeom>
          <a:solidFill>
            <a:srgbClr val="E8A02E"/>
          </a:solidFill>
          <a:ln>
            <a:noFill/>
          </a:ln>
        </p:spPr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AE3B760C-66CB-4FEE-AB5A-36C5014C4F51}"/>
              </a:ext>
            </a:extLst>
          </p:cNvPr>
          <p:cNvSpPr>
            <a:spLocks noGrp="1"/>
          </p:cNvSpPr>
          <p:nvPr/>
        </p:nvSpPr>
        <p:spPr>
          <a:xfrm>
            <a:off x="885825" y="3787050"/>
            <a:ext cx="2095500" cy="1000125"/>
          </a:xfrm>
          <a:prstGeom prst="rect">
            <a:avLst/>
          </a:prstGeom>
          <a:solidFill>
            <a:srgbClr val="E8A02E"/>
          </a:solidFill>
          <a:ln>
            <a:noFill/>
          </a:ln>
        </p:spPr>
      </p:sp>
      <p:sp>
        <p:nvSpPr>
          <p:cNvPr id="38" name="Rectangle 38">
            <a:extLst>
              <a:ext uri="{FF2B5EF4-FFF2-40B4-BE49-F238E27FC236}">
                <a16:creationId xmlns:a16="http://schemas.microsoft.com/office/drawing/2014/main" id="{50643C7F-652C-417F-8BD6-5E779A24DBEC}"/>
              </a:ext>
            </a:extLst>
          </p:cNvPr>
          <p:cNvSpPr>
            <a:spLocks noGrp="1"/>
          </p:cNvSpPr>
          <p:nvPr/>
        </p:nvSpPr>
        <p:spPr>
          <a:xfrm>
            <a:off x="914400" y="3815625"/>
            <a:ext cx="2095500" cy="1000125"/>
          </a:xfrm>
          <a:prstGeom prst="rect">
            <a:avLst/>
          </a:prstGeom>
          <a:solidFill>
            <a:srgbClr val="1E4DBC">
              <a:alpha val="60000"/>
            </a:srgbClr>
          </a:solidFill>
          <a:ln>
            <a:noFill/>
          </a:ln>
        </p:spPr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id="{FDBBEA24-A14E-4FC1-B904-CCA2252ACE65}"/>
              </a:ext>
            </a:extLst>
          </p:cNvPr>
          <p:cNvSpPr>
            <a:spLocks noGrp="1"/>
          </p:cNvSpPr>
          <p:nvPr/>
        </p:nvSpPr>
        <p:spPr>
          <a:xfrm>
            <a:off x="885825" y="3787050"/>
            <a:ext cx="2095500" cy="1000125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9533B4B5-5AD3-464C-A40F-B861E6868678}"/>
              </a:ext>
            </a:extLst>
          </p:cNvPr>
          <p:cNvSpPr>
            <a:spLocks noGrp="1"/>
          </p:cNvSpPr>
          <p:nvPr/>
        </p:nvSpPr>
        <p:spPr>
          <a:xfrm>
            <a:off x="1009650" y="3863250"/>
            <a:ext cx="344488" cy="388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5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03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1793BB23-EBBB-4EE5-911B-58B7F9A9D277}"/>
              </a:ext>
            </a:extLst>
          </p:cNvPr>
          <p:cNvSpPr>
            <a:spLocks noGrp="1"/>
          </p:cNvSpPr>
          <p:nvPr/>
        </p:nvSpPr>
        <p:spPr>
          <a:xfrm>
            <a:off x="1552575" y="418710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询问风险</a:t>
            </a:r>
          </a:p>
        </p:txBody>
      </p:sp>
      <p:sp>
        <p:nvSpPr>
          <p:cNvPr id="47" name="Ellipse 47">
            <a:extLst>
              <a:ext uri="{FF2B5EF4-FFF2-40B4-BE49-F238E27FC236}">
                <a16:creationId xmlns:a16="http://schemas.microsoft.com/office/drawing/2014/main" id="{A485D2CD-FBC6-4A5D-B49A-D127A7F04665}"/>
              </a:ext>
            </a:extLst>
          </p:cNvPr>
          <p:cNvSpPr>
            <a:spLocks noGrp="1"/>
          </p:cNvSpPr>
          <p:nvPr/>
        </p:nvSpPr>
        <p:spPr>
          <a:xfrm>
            <a:off x="8839200" y="5534025"/>
            <a:ext cx="152400" cy="1524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7E915835-9F61-4E9A-BF9A-D8F984E6BC44}"/>
              </a:ext>
            </a:extLst>
          </p:cNvPr>
          <p:cNvSpPr>
            <a:spLocks noGrp="1"/>
          </p:cNvSpPr>
          <p:nvPr/>
        </p:nvSpPr>
        <p:spPr>
          <a:xfrm>
            <a:off x="8491538" y="4787175"/>
            <a:ext cx="2095500" cy="10001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9" name="Rectangle 49">
            <a:extLst>
              <a:ext uri="{FF2B5EF4-FFF2-40B4-BE49-F238E27FC236}">
                <a16:creationId xmlns:a16="http://schemas.microsoft.com/office/drawing/2014/main" id="{CF7A8750-4F13-49F1-9112-D13AA55CC26F}"/>
              </a:ext>
            </a:extLst>
          </p:cNvPr>
          <p:cNvSpPr>
            <a:spLocks noGrp="1"/>
          </p:cNvSpPr>
          <p:nvPr/>
        </p:nvSpPr>
        <p:spPr>
          <a:xfrm>
            <a:off x="8520113" y="4815750"/>
            <a:ext cx="2095500" cy="1000125"/>
          </a:xfrm>
          <a:prstGeom prst="rect">
            <a:avLst/>
          </a:prstGeom>
          <a:solidFill>
            <a:srgbClr val="FF5C8A">
              <a:alpha val="60000"/>
            </a:srgbClr>
          </a:solidFill>
          <a:ln>
            <a:noFill/>
          </a:ln>
        </p:spPr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A80D7857-8172-4438-AD48-8BF5842FF61D}"/>
              </a:ext>
            </a:extLst>
          </p:cNvPr>
          <p:cNvSpPr>
            <a:spLocks noGrp="1"/>
          </p:cNvSpPr>
          <p:nvPr/>
        </p:nvSpPr>
        <p:spPr>
          <a:xfrm>
            <a:off x="8491538" y="4787175"/>
            <a:ext cx="2095500" cy="1000125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4C576354-5510-4A9B-94EA-D6BDD18869D8}"/>
              </a:ext>
            </a:extLst>
          </p:cNvPr>
          <p:cNvSpPr>
            <a:spLocks noGrp="1"/>
          </p:cNvSpPr>
          <p:nvPr/>
        </p:nvSpPr>
        <p:spPr>
          <a:xfrm>
            <a:off x="8615363" y="4863375"/>
            <a:ext cx="334963" cy="388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sz="25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04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D5587CF2-BB92-4ADC-A0A8-45BF64629953}"/>
              </a:ext>
            </a:extLst>
          </p:cNvPr>
          <p:cNvSpPr>
            <a:spLocks noGrp="1"/>
          </p:cNvSpPr>
          <p:nvPr/>
        </p:nvSpPr>
        <p:spPr>
          <a:xfrm>
            <a:off x="9158288" y="5187225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获取建议</a:t>
            </a:r>
          </a:p>
        </p:txBody>
      </p:sp>
      <p:sp>
        <p:nvSpPr>
          <p:cNvPr id="45" name="Rectangle 62">
            <a:extLst>
              <a:ext uri="{FF2B5EF4-FFF2-40B4-BE49-F238E27FC236}">
                <a16:creationId xmlns:a16="http://schemas.microsoft.com/office/drawing/2014/main" id="{9CBE1685-C657-ABDB-7493-0FA27FA2959D}"/>
              </a:ext>
            </a:extLst>
          </p:cNvPr>
          <p:cNvSpPr>
            <a:spLocks noGrp="1"/>
          </p:cNvSpPr>
          <p:nvPr/>
        </p:nvSpPr>
        <p:spPr>
          <a:xfrm>
            <a:off x="571500" y="6078765"/>
            <a:ext cx="11049000" cy="571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56" name="Rectangle 63">
            <a:extLst>
              <a:ext uri="{FF2B5EF4-FFF2-40B4-BE49-F238E27FC236}">
                <a16:creationId xmlns:a16="http://schemas.microsoft.com/office/drawing/2014/main" id="{0955100E-607A-4FB1-404D-F6B3303BB1B0}"/>
              </a:ext>
            </a:extLst>
          </p:cNvPr>
          <p:cNvSpPr>
            <a:spLocks noGrp="1"/>
          </p:cNvSpPr>
          <p:nvPr/>
        </p:nvSpPr>
        <p:spPr>
          <a:xfrm>
            <a:off x="600075" y="6107340"/>
            <a:ext cx="11049000" cy="5715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62" name="Rectangle 64">
            <a:extLst>
              <a:ext uri="{FF2B5EF4-FFF2-40B4-BE49-F238E27FC236}">
                <a16:creationId xmlns:a16="http://schemas.microsoft.com/office/drawing/2014/main" id="{6E544B4D-CD2A-940A-0847-AF4A3C18D4E8}"/>
              </a:ext>
            </a:extLst>
          </p:cNvPr>
          <p:cNvSpPr>
            <a:spLocks noGrp="1"/>
          </p:cNvSpPr>
          <p:nvPr/>
        </p:nvSpPr>
        <p:spPr>
          <a:xfrm>
            <a:off x="571500" y="6078765"/>
            <a:ext cx="11049000" cy="57150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TextBox 65">
            <a:extLst>
              <a:ext uri="{FF2B5EF4-FFF2-40B4-BE49-F238E27FC236}">
                <a16:creationId xmlns:a16="http://schemas.microsoft.com/office/drawing/2014/main" id="{1FB45555-EC23-4EF3-5553-768262F58762}"/>
              </a:ext>
            </a:extLst>
          </p:cNvPr>
          <p:cNvSpPr>
            <a:spLocks noGrp="1"/>
          </p:cNvSpPr>
          <p:nvPr/>
        </p:nvSpPr>
        <p:spPr>
          <a:xfrm>
            <a:off x="762000" y="6124575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在地图中选定茶园位置，查看未来0–72小时预测，确认天气风险，再按建议安排浇水、遮阴、采摘或加工</a:t>
            </a:r>
          </a:p>
        </p:txBody>
      </p:sp>
    </p:spTree>
    <p:extLst>
      <p:ext uri="{BB962C8B-B14F-4D97-AF65-F5344CB8AC3E}">
        <p14:creationId xmlns:p14="http://schemas.microsoft.com/office/powerpoint/2010/main" val="2128504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2BB4109-49C7-433B-A79A-87235B54FAB6}"/>
              </a:ext>
            </a:extLst>
          </p:cNvPr>
          <p:cNvSpPr>
            <a:spLocks noGrp="1"/>
          </p:cNvSpPr>
          <p:nvPr/>
        </p:nvSpPr>
        <p:spPr>
          <a:xfrm>
            <a:off x="-195943" y="-43771"/>
            <a:ext cx="12387943" cy="7094221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5707DDA-4141-4EC6-930A-C636F8DF49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9" name="Image 5">
            <a:extLst>
              <a:ext uri="{FF2B5EF4-FFF2-40B4-BE49-F238E27FC236}">
                <a16:creationId xmlns:a16="http://schemas.microsoft.com/office/drawing/2014/main" id="{99EDE1E5-B6C6-447A-AC9C-C2B2975CE4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49" t="-30570" r="56331" b="30570"/>
          <a:stretch>
            <a:fillRect/>
          </a:stretch>
        </p:blipFill>
        <p:spPr>
          <a:xfrm>
            <a:off x="571500" y="571500"/>
            <a:ext cx="2667000" cy="56769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12A3AFA8-5837-4F5D-9701-B5600F46DC98}"/>
              </a:ext>
            </a:extLst>
          </p:cNvPr>
          <p:cNvSpPr>
            <a:spLocks noGrp="1"/>
          </p:cNvSpPr>
          <p:nvPr/>
        </p:nvSpPr>
        <p:spPr>
          <a:xfrm>
            <a:off x="571500" y="6286500"/>
            <a:ext cx="2667000" cy="3048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DA48505-5408-4FF7-B488-A3197DFB5AE0}"/>
              </a:ext>
            </a:extLst>
          </p:cNvPr>
          <p:cNvSpPr>
            <a:spLocks noGrp="1"/>
          </p:cNvSpPr>
          <p:nvPr/>
        </p:nvSpPr>
        <p:spPr>
          <a:xfrm>
            <a:off x="5457825" y="526447"/>
            <a:ext cx="1600200" cy="960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6300">
                <a:solidFill>
                  <a:srgbClr val="25C58A"/>
                </a:solidFill>
                <a:latin typeface="Impact"/>
                <a:ea typeface="Impact"/>
                <a:cs typeface="Impact"/>
              </a:rPr>
              <a:t>数据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3383161-C9B2-4714-A356-456850364832}"/>
              </a:ext>
            </a:extLst>
          </p:cNvPr>
          <p:cNvSpPr>
            <a:spLocks noGrp="1"/>
          </p:cNvSpPr>
          <p:nvPr/>
        </p:nvSpPr>
        <p:spPr>
          <a:xfrm>
            <a:off x="5438775" y="507397"/>
            <a:ext cx="1600200" cy="960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63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数据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BFB1D9A-B533-490A-BB45-6FEBF86A4C45}"/>
              </a:ext>
            </a:extLst>
          </p:cNvPr>
          <p:cNvSpPr>
            <a:spLocks noGrp="1"/>
          </p:cNvSpPr>
          <p:nvPr/>
        </p:nvSpPr>
        <p:spPr>
          <a:xfrm>
            <a:off x="7210425" y="500348"/>
            <a:ext cx="800100" cy="960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63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到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EF1D245-5002-4054-9E0C-D6D5CF2B32F7}"/>
              </a:ext>
            </a:extLst>
          </p:cNvPr>
          <p:cNvSpPr>
            <a:spLocks noGrp="1"/>
          </p:cNvSpPr>
          <p:nvPr/>
        </p:nvSpPr>
        <p:spPr>
          <a:xfrm>
            <a:off x="8162925" y="515017"/>
            <a:ext cx="1524000" cy="9233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6000">
                <a:solidFill>
                  <a:srgbClr val="0B5D3B"/>
                </a:solidFill>
                <a:latin typeface="Impact"/>
                <a:ea typeface="Impact"/>
                <a:cs typeface="Impact"/>
              </a:rPr>
              <a:t>建议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6E92AC0-B3B7-4593-A444-45138A49D2A7}"/>
              </a:ext>
            </a:extLst>
          </p:cNvPr>
          <p:cNvSpPr>
            <a:spLocks noGrp="1"/>
          </p:cNvSpPr>
          <p:nvPr/>
        </p:nvSpPr>
        <p:spPr>
          <a:xfrm>
            <a:off x="3810000" y="1722787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气象与地形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FE277F8-E2E7-4BF3-A3E6-E6A029CD272B}"/>
              </a:ext>
            </a:extLst>
          </p:cNvPr>
          <p:cNvSpPr>
            <a:spLocks noGrp="1"/>
          </p:cNvSpPr>
          <p:nvPr/>
        </p:nvSpPr>
        <p:spPr>
          <a:xfrm>
            <a:off x="6477000" y="17257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逐小时区间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4904E4D-3056-4B23-A42A-F69619AED6F1}"/>
              </a:ext>
            </a:extLst>
          </p:cNvPr>
          <p:cNvSpPr>
            <a:spLocks noGrp="1"/>
          </p:cNvSpPr>
          <p:nvPr/>
        </p:nvSpPr>
        <p:spPr>
          <a:xfrm>
            <a:off x="9144000" y="173155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风险与建议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0085FF40-F494-4EAA-8751-51EB7040B748}"/>
              </a:ext>
            </a:extLst>
          </p:cNvPr>
          <p:cNvSpPr>
            <a:spLocks noGrp="1"/>
          </p:cNvSpPr>
          <p:nvPr/>
        </p:nvSpPr>
        <p:spPr>
          <a:xfrm>
            <a:off x="3534251" y="2649855"/>
            <a:ext cx="571500" cy="5715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E44F1EA-6E58-4C0D-9408-588AEA20569A}"/>
              </a:ext>
            </a:extLst>
          </p:cNvPr>
          <p:cNvSpPr>
            <a:spLocks noGrp="1"/>
          </p:cNvSpPr>
          <p:nvPr/>
        </p:nvSpPr>
        <p:spPr>
          <a:xfrm>
            <a:off x="3533775" y="2752725"/>
            <a:ext cx="571500" cy="369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24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1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7971478-75A7-4028-B636-F0588C10068F}"/>
              </a:ext>
            </a:extLst>
          </p:cNvPr>
          <p:cNvSpPr>
            <a:spLocks noGrp="1"/>
          </p:cNvSpPr>
          <p:nvPr/>
        </p:nvSpPr>
        <p:spPr>
          <a:xfrm>
            <a:off x="4281392" y="2557463"/>
            <a:ext cx="1538859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数据基础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2AC82B0-5679-403F-88E4-7CE86218CD2C}"/>
              </a:ext>
            </a:extLst>
          </p:cNvPr>
          <p:cNvSpPr>
            <a:spLocks noGrp="1"/>
          </p:cNvSpPr>
          <p:nvPr/>
        </p:nvSpPr>
        <p:spPr>
          <a:xfrm>
            <a:off x="4267200" y="2952750"/>
            <a:ext cx="68580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ERA5-Land提供历史数据，Open-Meteo提供未来预报。</a:t>
            </a:r>
          </a:p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系统将气象与地形信息一起作为模型输入。</a:t>
            </a: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634DB616-ED21-417E-B1B1-2F94F223D63A}"/>
              </a:ext>
            </a:extLst>
          </p:cNvPr>
          <p:cNvSpPr>
            <a:spLocks noGrp="1"/>
          </p:cNvSpPr>
          <p:nvPr/>
        </p:nvSpPr>
        <p:spPr>
          <a:xfrm>
            <a:off x="3534251" y="3754755"/>
            <a:ext cx="571500" cy="5715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D10D1F9-D38F-4691-92B2-E3CCD40C5C23}"/>
              </a:ext>
            </a:extLst>
          </p:cNvPr>
          <p:cNvSpPr>
            <a:spLocks noGrp="1"/>
          </p:cNvSpPr>
          <p:nvPr/>
        </p:nvSpPr>
        <p:spPr>
          <a:xfrm>
            <a:off x="3533775" y="3857625"/>
            <a:ext cx="571500" cy="369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24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2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7CA69CF-908F-437E-8E3B-74A4DD49A985}"/>
              </a:ext>
            </a:extLst>
          </p:cNvPr>
          <p:cNvSpPr>
            <a:spLocks noGrp="1"/>
          </p:cNvSpPr>
          <p:nvPr/>
        </p:nvSpPr>
        <p:spPr>
          <a:xfrm>
            <a:off x="4273391" y="3662363"/>
            <a:ext cx="1538859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模型预测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82FE3FC-ACF6-445C-852C-1C828927B0A2}"/>
              </a:ext>
            </a:extLst>
          </p:cNvPr>
          <p:cNvSpPr>
            <a:spLocks noGrp="1"/>
          </p:cNvSpPr>
          <p:nvPr/>
        </p:nvSpPr>
        <p:spPr>
          <a:xfrm>
            <a:off x="4257675" y="4057650"/>
            <a:ext cx="68580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LightGBM学习历史天气与地形的关系，</a:t>
            </a:r>
          </a:p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输出每小时的P10、P50、P90，表示偏低、中位和偏高情景。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52172428-1D03-491F-A1B5-7121C3479CD6}"/>
              </a:ext>
            </a:extLst>
          </p:cNvPr>
          <p:cNvSpPr>
            <a:spLocks noGrp="1"/>
          </p:cNvSpPr>
          <p:nvPr/>
        </p:nvSpPr>
        <p:spPr>
          <a:xfrm>
            <a:off x="3534251" y="4859655"/>
            <a:ext cx="571500" cy="571500"/>
          </a:xfrm>
          <a:prstGeom prst="rect">
            <a:avLst/>
          </a:prstGeom>
          <a:solidFill>
            <a:srgbClr val="B9E769"/>
          </a:solidFill>
          <a:ln>
            <a:noFill/>
          </a:ln>
        </p:spPr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DBF00D81-8529-4A59-BB92-3FF3EE075300}"/>
              </a:ext>
            </a:extLst>
          </p:cNvPr>
          <p:cNvSpPr>
            <a:spLocks noGrp="1"/>
          </p:cNvSpPr>
          <p:nvPr/>
        </p:nvSpPr>
        <p:spPr>
          <a:xfrm>
            <a:off x="3533775" y="4962525"/>
            <a:ext cx="571500" cy="369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24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3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B4E59204-9156-4990-8524-E107DA8979BC}"/>
              </a:ext>
            </a:extLst>
          </p:cNvPr>
          <p:cNvSpPr>
            <a:spLocks noGrp="1"/>
          </p:cNvSpPr>
          <p:nvPr/>
        </p:nvSpPr>
        <p:spPr>
          <a:xfrm>
            <a:off x="4309015" y="4767263"/>
            <a:ext cx="1538859" cy="3693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风险判断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8F0007A-675F-4055-A4D8-DFB288F73640}"/>
              </a:ext>
            </a:extLst>
          </p:cNvPr>
          <p:cNvSpPr>
            <a:spLocks noGrp="1"/>
          </p:cNvSpPr>
          <p:nvPr/>
        </p:nvSpPr>
        <p:spPr>
          <a:xfrm>
            <a:off x="4295775" y="5162550"/>
            <a:ext cx="685800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系统应用风险阈值，识别高温、干旱、霜冻和连阴雨，</a:t>
            </a:r>
          </a:p>
          <a:p>
            <a:pPr algn="l">
              <a:lnSpc>
                <a:spcPct val="108000"/>
              </a:lnSpc>
              <a:buNone/>
              <a:defRPr sz="1500"/>
            </a:pPr>
            <a:r>
              <a:rPr sz="1500">
                <a:solidFill>
                  <a:srgbClr val="5A5A5A"/>
                </a:solidFill>
                <a:latin typeface="Arial"/>
                <a:ea typeface="Arial"/>
                <a:cs typeface="Arial"/>
              </a:rPr>
              <a:t>再匹配灌溉、遮阴、采摘与加工建议。</a:t>
            </a:r>
          </a:p>
        </p:txBody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id="{7DDE99B6-BAA0-40D2-A87C-78709D8DC231}"/>
              </a:ext>
            </a:extLst>
          </p:cNvPr>
          <p:cNvSpPr>
            <a:spLocks noGrp="1"/>
          </p:cNvSpPr>
          <p:nvPr/>
        </p:nvSpPr>
        <p:spPr>
          <a:xfrm>
            <a:off x="3619500" y="5846254"/>
            <a:ext cx="8001000" cy="57359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40">
            <a:extLst>
              <a:ext uri="{FF2B5EF4-FFF2-40B4-BE49-F238E27FC236}">
                <a16:creationId xmlns:a16="http://schemas.microsoft.com/office/drawing/2014/main" id="{33A7B289-EFA8-4244-9C44-10121647F73D}"/>
              </a:ext>
            </a:extLst>
          </p:cNvPr>
          <p:cNvSpPr>
            <a:spLocks noGrp="1"/>
          </p:cNvSpPr>
          <p:nvPr/>
        </p:nvSpPr>
        <p:spPr>
          <a:xfrm>
            <a:off x="3648075" y="5905497"/>
            <a:ext cx="8001000" cy="542927"/>
          </a:xfrm>
          <a:prstGeom prst="rect">
            <a:avLst/>
          </a:prstGeom>
          <a:solidFill>
            <a:srgbClr val="25C5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D1E267B0-BCFB-4BF0-BE8F-A366B06FFB74}"/>
              </a:ext>
            </a:extLst>
          </p:cNvPr>
          <p:cNvSpPr>
            <a:spLocks noGrp="1"/>
          </p:cNvSpPr>
          <p:nvPr/>
        </p:nvSpPr>
        <p:spPr>
          <a:xfrm>
            <a:off x="3619500" y="5905498"/>
            <a:ext cx="8001000" cy="45720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6EA43DE2-57CA-4884-88E3-F12A6F55D1E4}"/>
              </a:ext>
            </a:extLst>
          </p:cNvPr>
          <p:cNvSpPr>
            <a:spLocks noGrp="1"/>
          </p:cNvSpPr>
          <p:nvPr/>
        </p:nvSpPr>
        <p:spPr>
          <a:xfrm>
            <a:off x="3711031" y="5895793"/>
            <a:ext cx="78105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/>
            </a:pPr>
            <a:r>
              <a:rPr sz="1500">
                <a:solidFill>
                  <a:srgbClr val="F5EFE0"/>
                </a:solidFill>
                <a:latin typeface="Arial"/>
                <a:ea typeface="Arial"/>
                <a:cs typeface="Arial"/>
              </a:rPr>
              <a:t>P10至P90形成预测区间，帮助用户同时看到最可能结果与可能波动范围。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E2501C2F-9301-418F-83C4-524D4F05DF8E}"/>
              </a:ext>
            </a:extLst>
          </p:cNvPr>
          <p:cNvSpPr>
            <a:spLocks noGrp="1"/>
          </p:cNvSpPr>
          <p:nvPr/>
        </p:nvSpPr>
        <p:spPr>
          <a:xfrm>
            <a:off x="3619500" y="6515100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00"/>
            </a:pPr>
            <a:r>
              <a:rPr sz="1800">
                <a:solidFill>
                  <a:srgbClr val="5A5A5A"/>
                </a:solidFill>
                <a:latin typeface="Consolas"/>
                <a:ea typeface="Consolas"/>
                <a:cs typeface="Consolas"/>
              </a:rPr>
              <a:t>数据来源：ERA5-Land、Open-Meteo    模型：LightGBM</a:t>
            </a: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1A873A84-6A89-4070-A444-C48E850CC1E5}"/>
              </a:ext>
            </a:extLst>
          </p:cNvPr>
          <p:cNvSpPr>
            <a:spLocks noGrp="1"/>
          </p:cNvSpPr>
          <p:nvPr/>
        </p:nvSpPr>
        <p:spPr>
          <a:xfrm>
            <a:off x="3520531" y="2390503"/>
            <a:ext cx="8001000" cy="9525"/>
          </a:xfrm>
          <a:custGeom>
            <a:avLst/>
            <a:gdLst/>
            <a:ahLst/>
            <a:cxnLst/>
            <a:rect l="l" t="t" r="r" b="b"/>
            <a:pathLst>
              <a:path w="8001000" h="9525">
                <a:moveTo>
                  <a:pt x="0" y="0"/>
                </a:moveTo>
                <a:lnTo>
                  <a:pt x="8001000" y="0"/>
                </a:lnTo>
              </a:path>
            </a:pathLst>
          </a:custGeom>
          <a:noFill/>
          <a:ln w="19050">
            <a:solidFill>
              <a:srgbClr val="1A1A1A"/>
            </a:solidFill>
          </a:ln>
        </p:spPr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AC82E3CA-D6BA-40DC-A1A6-D5966D5DD2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523" t="12472" r="7962" b="20135"/>
          <a:stretch>
            <a:fillRect/>
          </a:stretch>
        </p:blipFill>
        <p:spPr>
          <a:xfrm>
            <a:off x="561974" y="500348"/>
            <a:ext cx="2676526" cy="382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48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8B5921-303E-4612-82FB-5BCDFEEADB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A14E0CB-C050-447E-A736-34F28666B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4BC971-8A04-40C1-9A98-28AC62013222}"/>
              </a:ext>
            </a:extLst>
          </p:cNvPr>
          <p:cNvSpPr>
            <a:spLocks noGrp="1"/>
          </p:cNvSpPr>
          <p:nvPr/>
        </p:nvSpPr>
        <p:spPr>
          <a:xfrm>
            <a:off x="571500" y="533400"/>
            <a:ext cx="133350" cy="6477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086815-D997-433E-A0E1-EBDF1A25E8B3}"/>
              </a:ext>
            </a:extLst>
          </p:cNvPr>
          <p:cNvSpPr>
            <a:spLocks noGrp="1"/>
          </p:cNvSpPr>
          <p:nvPr/>
        </p:nvSpPr>
        <p:spPr>
          <a:xfrm>
            <a:off x="600075" y="561975"/>
            <a:ext cx="133350" cy="6477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FD6C68-0467-4C8C-818E-DED726C32B4C}"/>
              </a:ext>
            </a:extLst>
          </p:cNvPr>
          <p:cNvSpPr>
            <a:spLocks noGrp="1"/>
          </p:cNvSpPr>
          <p:nvPr/>
        </p:nvSpPr>
        <p:spPr>
          <a:xfrm>
            <a:off x="571500" y="533400"/>
            <a:ext cx="133350" cy="6477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6C8F162-41CF-4119-82AA-E479CB3995BF}"/>
              </a:ext>
            </a:extLst>
          </p:cNvPr>
          <p:cNvSpPr>
            <a:spLocks noGrp="1"/>
          </p:cNvSpPr>
          <p:nvPr/>
        </p:nvSpPr>
        <p:spPr>
          <a:xfrm>
            <a:off x="832485" y="561023"/>
            <a:ext cx="3943350" cy="525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风险预警与农事建议</a:t>
            </a: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4034A7B-9983-480C-98F7-1DF09910264F}"/>
              </a:ext>
            </a:extLst>
          </p:cNvPr>
          <p:cNvSpPr>
            <a:spLocks noGrp="1"/>
          </p:cNvSpPr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60CB738F-26F0-4567-9154-7E90E262FBE3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3619500" cy="4724400"/>
          </a:xfrm>
          <a:prstGeom prst="rect">
            <a:avLst/>
          </a:prstGeom>
          <a:solidFill>
            <a:srgbClr val="FF5C8A"/>
          </a:solidFill>
          <a:ln>
            <a:noFill/>
          </a:ln>
        </p:spPr>
      </p:sp>
      <p:pic>
        <p:nvPicPr>
          <p:cNvPr id="70" name="Image 12">
            <a:extLst>
              <a:ext uri="{FF2B5EF4-FFF2-40B4-BE49-F238E27FC236}">
                <a16:creationId xmlns:a16="http://schemas.microsoft.com/office/drawing/2014/main" id="{D5678902-5024-4CC5-9850-995B79489B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1500" y="1619250"/>
            <a:ext cx="3619500" cy="4724400"/>
          </a:xfrm>
          <a:prstGeom prst="rect">
            <a:avLst/>
          </a:prstGeom>
        </p:spPr>
      </p:pic>
      <p:sp>
        <p:nvSpPr>
          <p:cNvPr id="13" name="Rectangle 13">
            <a:extLst>
              <a:ext uri="{FF2B5EF4-FFF2-40B4-BE49-F238E27FC236}">
                <a16:creationId xmlns:a16="http://schemas.microsoft.com/office/drawing/2014/main" id="{CBC63C72-3E4C-4344-B577-2FAE0B9E4E6C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619500" cy="3048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43E46A0-F4BF-4E68-AF02-74D69EFB1443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7239000" cy="22288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B013862D-AD06-4195-9C7B-B953B0AEAC79}"/>
              </a:ext>
            </a:extLst>
          </p:cNvPr>
          <p:cNvSpPr>
            <a:spLocks noGrp="1"/>
          </p:cNvSpPr>
          <p:nvPr/>
        </p:nvSpPr>
        <p:spPr>
          <a:xfrm>
            <a:off x="4410075" y="1647824"/>
            <a:ext cx="7239000" cy="2475233"/>
          </a:xfrm>
          <a:prstGeom prst="rect">
            <a:avLst/>
          </a:prstGeom>
          <a:solidFill>
            <a:srgbClr val="FF5C8A">
              <a:alpha val="55000"/>
            </a:srgbClr>
          </a:solidFill>
          <a:ln>
            <a:noFill/>
          </a:ln>
        </p:spPr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EFAE0A68-31EE-4DA2-AC27-9FE802323EF2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7239000" cy="24574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5140FCD4-14DA-4B1D-BBD5-89EE80A1E50C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2032000" cy="47625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0410109-503B-4400-BD51-A51F4DFBCA32}"/>
              </a:ext>
            </a:extLst>
          </p:cNvPr>
          <p:cNvSpPr>
            <a:spLocks noGrp="1"/>
          </p:cNvSpPr>
          <p:nvPr/>
        </p:nvSpPr>
        <p:spPr>
          <a:xfrm>
            <a:off x="4545330" y="1716405"/>
            <a:ext cx="13335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高温与干旱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CE6A700-C178-4913-92F6-851ECE63698E}"/>
              </a:ext>
            </a:extLst>
          </p:cNvPr>
          <p:cNvSpPr>
            <a:spLocks noGrp="1"/>
          </p:cNvSpPr>
          <p:nvPr/>
        </p:nvSpPr>
        <p:spPr>
          <a:xfrm>
            <a:off x="4552950" y="2266950"/>
            <a:ext cx="6781800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/>
            </a:pPr>
            <a:r>
              <a:rPr sz="16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系统定位高温或干旱出现的时段和程度，提醒茶农准备水源，</a:t>
            </a:r>
          </a:p>
          <a:p>
            <a:pPr algn="l">
              <a:lnSpc>
                <a:spcPct val="108000"/>
              </a:lnSpc>
              <a:buNone/>
              <a:defRPr sz="1500"/>
            </a:pPr>
            <a:r>
              <a:rPr sz="16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安排灌溉、遮阴和保湿，降低叶片灼伤与缺水风险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7E80E938-C7B0-4DCE-96B1-77C1D2FB6E78}"/>
              </a:ext>
            </a:extLst>
          </p:cNvPr>
          <p:cNvSpPr>
            <a:spLocks noGrp="1"/>
          </p:cNvSpPr>
          <p:nvPr/>
        </p:nvSpPr>
        <p:spPr>
          <a:xfrm>
            <a:off x="4572000" y="3171825"/>
            <a:ext cx="2184368" cy="826814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25FA4E3-66DF-4032-91B6-B90331686EC9}"/>
              </a:ext>
            </a:extLst>
          </p:cNvPr>
          <p:cNvSpPr>
            <a:spLocks noGrp="1"/>
          </p:cNvSpPr>
          <p:nvPr/>
        </p:nvSpPr>
        <p:spPr>
          <a:xfrm>
            <a:off x="4572000" y="3204210"/>
            <a:ext cx="2184368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27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提前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7960312-EC5C-4274-8E4F-DB58ADCAE4BA}"/>
              </a:ext>
            </a:extLst>
          </p:cNvPr>
          <p:cNvSpPr>
            <a:spLocks noGrp="1"/>
          </p:cNvSpPr>
          <p:nvPr/>
        </p:nvSpPr>
        <p:spPr>
          <a:xfrm>
            <a:off x="4572000" y="3633788"/>
            <a:ext cx="218436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>
                <a:solidFill>
                  <a:srgbClr val="F5EFE0"/>
                </a:solidFill>
                <a:latin typeface="Arial"/>
                <a:ea typeface="Arial"/>
                <a:cs typeface="Arial"/>
              </a:rPr>
              <a:t>发现风险时段</a:t>
            </a: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6B4C3EC8-951A-4FB1-9D14-BEE439A798C4}"/>
              </a:ext>
            </a:extLst>
          </p:cNvPr>
          <p:cNvSpPr>
            <a:spLocks noGrp="1"/>
          </p:cNvSpPr>
          <p:nvPr/>
        </p:nvSpPr>
        <p:spPr>
          <a:xfrm>
            <a:off x="6908768" y="3171825"/>
            <a:ext cx="2184368" cy="826814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8D23FD4-D8F9-49D4-B82B-F71CB6D376CE}"/>
              </a:ext>
            </a:extLst>
          </p:cNvPr>
          <p:cNvSpPr>
            <a:spLocks noGrp="1"/>
          </p:cNvSpPr>
          <p:nvPr/>
        </p:nvSpPr>
        <p:spPr>
          <a:xfrm>
            <a:off x="6908768" y="3204210"/>
            <a:ext cx="2184368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27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分级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468283C3-FDCF-4D8E-AA4A-589A4D06648E}"/>
              </a:ext>
            </a:extLst>
          </p:cNvPr>
          <p:cNvSpPr>
            <a:spLocks noGrp="1"/>
          </p:cNvSpPr>
          <p:nvPr/>
        </p:nvSpPr>
        <p:spPr>
          <a:xfrm>
            <a:off x="6908768" y="3633788"/>
            <a:ext cx="218436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>
                <a:solidFill>
                  <a:srgbClr val="F5EFE0"/>
                </a:solidFill>
                <a:latin typeface="Arial"/>
                <a:ea typeface="Arial"/>
                <a:cs typeface="Arial"/>
              </a:rPr>
              <a:t>判断影响程度</a:t>
            </a:r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4CA3A2A9-7332-45D6-9222-D51970C6A1E8}"/>
              </a:ext>
            </a:extLst>
          </p:cNvPr>
          <p:cNvSpPr>
            <a:spLocks noGrp="1"/>
          </p:cNvSpPr>
          <p:nvPr/>
        </p:nvSpPr>
        <p:spPr>
          <a:xfrm>
            <a:off x="9245632" y="3171825"/>
            <a:ext cx="2184368" cy="838200"/>
          </a:xfrm>
          <a:prstGeom prst="rect">
            <a:avLst/>
          </a:prstGeom>
          <a:solidFill>
            <a:srgbClr val="B9E769"/>
          </a:solidFill>
          <a:ln>
            <a:noFill/>
          </a:ln>
        </p:spPr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DD1FC31-A113-4F7C-ADBB-F9F589831755}"/>
              </a:ext>
            </a:extLst>
          </p:cNvPr>
          <p:cNvSpPr>
            <a:spLocks noGrp="1"/>
          </p:cNvSpPr>
          <p:nvPr/>
        </p:nvSpPr>
        <p:spPr>
          <a:xfrm>
            <a:off x="9245632" y="3236595"/>
            <a:ext cx="21843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24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行动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630210DA-D56C-4030-98D3-3DE8A0DDD30B}"/>
              </a:ext>
            </a:extLst>
          </p:cNvPr>
          <p:cNvSpPr>
            <a:spLocks noGrp="1"/>
          </p:cNvSpPr>
          <p:nvPr/>
        </p:nvSpPr>
        <p:spPr>
          <a:xfrm>
            <a:off x="9245632" y="3633788"/>
            <a:ext cx="218436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安排浇水遮阴</a:t>
            </a:r>
          </a:p>
        </p:txBody>
      </p:sp>
      <p:sp>
        <p:nvSpPr>
          <p:cNvPr id="40" name="Rectangle 40">
            <a:extLst>
              <a:ext uri="{FF2B5EF4-FFF2-40B4-BE49-F238E27FC236}">
                <a16:creationId xmlns:a16="http://schemas.microsoft.com/office/drawing/2014/main" id="{BBF387E2-CC1E-458E-96F4-8902544B9A99}"/>
              </a:ext>
            </a:extLst>
          </p:cNvPr>
          <p:cNvSpPr>
            <a:spLocks noGrp="1"/>
          </p:cNvSpPr>
          <p:nvPr/>
        </p:nvSpPr>
        <p:spPr>
          <a:xfrm>
            <a:off x="4381500" y="4401457"/>
            <a:ext cx="7239000" cy="22288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445D3192-63A3-42A6-A70C-8D5FF767D3CF}"/>
              </a:ext>
            </a:extLst>
          </p:cNvPr>
          <p:cNvSpPr>
            <a:spLocks noGrp="1"/>
          </p:cNvSpPr>
          <p:nvPr/>
        </p:nvSpPr>
        <p:spPr>
          <a:xfrm>
            <a:off x="4410075" y="4430032"/>
            <a:ext cx="7239000" cy="2228850"/>
          </a:xfrm>
          <a:prstGeom prst="rect">
            <a:avLst/>
          </a:prstGeom>
          <a:solidFill>
            <a:srgbClr val="1E4DBC">
              <a:alpha val="55000"/>
            </a:srgbClr>
          </a:solidFill>
          <a:ln>
            <a:noFill/>
          </a:ln>
        </p:spPr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6E202920-02C1-46B7-8531-892E398DDF23}"/>
              </a:ext>
            </a:extLst>
          </p:cNvPr>
          <p:cNvSpPr>
            <a:spLocks noGrp="1"/>
          </p:cNvSpPr>
          <p:nvPr/>
        </p:nvSpPr>
        <p:spPr>
          <a:xfrm>
            <a:off x="4362452" y="4181475"/>
            <a:ext cx="7239000" cy="24003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Rectangle 43">
            <a:extLst>
              <a:ext uri="{FF2B5EF4-FFF2-40B4-BE49-F238E27FC236}">
                <a16:creationId xmlns:a16="http://schemas.microsoft.com/office/drawing/2014/main" id="{57BF00B0-B243-4899-A6D9-65EB63E375E8}"/>
              </a:ext>
            </a:extLst>
          </p:cNvPr>
          <p:cNvSpPr>
            <a:spLocks noGrp="1"/>
          </p:cNvSpPr>
          <p:nvPr/>
        </p:nvSpPr>
        <p:spPr>
          <a:xfrm>
            <a:off x="4381500" y="4234546"/>
            <a:ext cx="2032000" cy="476250"/>
          </a:xfrm>
          <a:prstGeom prst="rect">
            <a:avLst/>
          </a:prstGeom>
          <a:solidFill>
            <a:srgbClr val="25C5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D374383D-2212-4622-9759-B24D41D1C12E}"/>
              </a:ext>
            </a:extLst>
          </p:cNvPr>
          <p:cNvSpPr>
            <a:spLocks noGrp="1"/>
          </p:cNvSpPr>
          <p:nvPr/>
        </p:nvSpPr>
        <p:spPr>
          <a:xfrm>
            <a:off x="4545330" y="4331684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霜冻与连阴雨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BED4914-4293-4F21-B17B-4FA2D431AF3E}"/>
              </a:ext>
            </a:extLst>
          </p:cNvPr>
          <p:cNvSpPr>
            <a:spLocks noGrp="1"/>
          </p:cNvSpPr>
          <p:nvPr/>
        </p:nvSpPr>
        <p:spPr>
          <a:xfrm>
            <a:off x="4591052" y="4840560"/>
            <a:ext cx="6781800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/>
            </a:pPr>
            <a:r>
              <a:rPr sz="16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系统根据低温和连续降雨风险调整采摘与加工计划，</a:t>
            </a:r>
          </a:p>
          <a:p>
            <a:pPr algn="l">
              <a:lnSpc>
                <a:spcPct val="108000"/>
              </a:lnSpc>
              <a:buNone/>
              <a:defRPr sz="1500"/>
            </a:pPr>
            <a:r>
              <a:rPr sz="16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提醒提前防寒或延后作业，减少嫩芽受损和品质下降</a:t>
            </a: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9583FB5F-C7F6-4289-AF5D-5F6E6D6EF027}"/>
              </a:ext>
            </a:extLst>
          </p:cNvPr>
          <p:cNvSpPr>
            <a:spLocks noGrp="1"/>
          </p:cNvSpPr>
          <p:nvPr/>
        </p:nvSpPr>
        <p:spPr>
          <a:xfrm>
            <a:off x="4572000" y="5734049"/>
            <a:ext cx="3352800" cy="847725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298FB872-9F0A-46F7-B851-BBDE0CB2F2EA}"/>
              </a:ext>
            </a:extLst>
          </p:cNvPr>
          <p:cNvSpPr>
            <a:spLocks noGrp="1"/>
          </p:cNvSpPr>
          <p:nvPr/>
        </p:nvSpPr>
        <p:spPr>
          <a:xfrm>
            <a:off x="4572000" y="5782628"/>
            <a:ext cx="3352800" cy="388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25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预警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6A9AEAAE-233A-4822-88F6-59591D805B82}"/>
              </a:ext>
            </a:extLst>
          </p:cNvPr>
          <p:cNvSpPr>
            <a:spLocks noGrp="1"/>
          </p:cNvSpPr>
          <p:nvPr/>
        </p:nvSpPr>
        <p:spPr>
          <a:xfrm>
            <a:off x="4572000" y="6196013"/>
            <a:ext cx="3352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>
                <a:solidFill>
                  <a:srgbClr val="F5EFE0"/>
                </a:solidFill>
                <a:latin typeface="Arial"/>
                <a:ea typeface="Arial"/>
                <a:cs typeface="Arial"/>
              </a:rPr>
              <a:t>提示防寒采摘</a:t>
            </a:r>
          </a:p>
        </p:txBody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0E013036-4AC4-48FF-A997-D55FF511A6DB}"/>
              </a:ext>
            </a:extLst>
          </p:cNvPr>
          <p:cNvSpPr>
            <a:spLocks noGrp="1"/>
          </p:cNvSpPr>
          <p:nvPr/>
        </p:nvSpPr>
        <p:spPr>
          <a:xfrm>
            <a:off x="8077200" y="5734050"/>
            <a:ext cx="3352800" cy="8382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11361736-57FC-4977-A0AD-19F11C594E29}"/>
              </a:ext>
            </a:extLst>
          </p:cNvPr>
          <p:cNvSpPr>
            <a:spLocks noGrp="1"/>
          </p:cNvSpPr>
          <p:nvPr/>
        </p:nvSpPr>
        <p:spPr>
          <a:xfrm>
            <a:off x="8077200" y="5782628"/>
            <a:ext cx="3352800" cy="388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25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建议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E9F51BDC-F3CF-4B70-AC4E-18B25269D5B0}"/>
              </a:ext>
            </a:extLst>
          </p:cNvPr>
          <p:cNvSpPr>
            <a:spLocks noGrp="1"/>
          </p:cNvSpPr>
          <p:nvPr/>
        </p:nvSpPr>
        <p:spPr>
          <a:xfrm>
            <a:off x="8077200" y="6196013"/>
            <a:ext cx="3352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>
                <a:solidFill>
                  <a:srgbClr val="F5EFE0"/>
                </a:solidFill>
                <a:latin typeface="Arial"/>
                <a:ea typeface="Arial"/>
                <a:cs typeface="Arial"/>
              </a:rPr>
              <a:t>调整加工计划</a:t>
            </a:r>
          </a:p>
        </p:txBody>
      </p:sp>
      <p:sp>
        <p:nvSpPr>
          <p:cNvPr id="60" name="Line 60">
            <a:extLst>
              <a:ext uri="{FF2B5EF4-FFF2-40B4-BE49-F238E27FC236}">
                <a16:creationId xmlns:a16="http://schemas.microsoft.com/office/drawing/2014/main" id="{D60EB5DC-1FF2-4DDD-98D8-20D7D984B4B9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1A1A"/>
            </a:solidFill>
          </a:ln>
        </p:spPr>
      </p:sp>
    </p:spTree>
    <p:extLst>
      <p:ext uri="{BB962C8B-B14F-4D97-AF65-F5344CB8AC3E}">
        <p14:creationId xmlns:p14="http://schemas.microsoft.com/office/powerpoint/2010/main" val="1151414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8B5921-303E-4612-82FB-5BCDFEEADB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A14E0CB-C050-447E-A736-34F28666B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4BC971-8A04-40C1-9A98-28AC62013222}"/>
              </a:ext>
            </a:extLst>
          </p:cNvPr>
          <p:cNvSpPr>
            <a:spLocks noGrp="1"/>
          </p:cNvSpPr>
          <p:nvPr/>
        </p:nvSpPr>
        <p:spPr>
          <a:xfrm>
            <a:off x="571500" y="533400"/>
            <a:ext cx="133350" cy="6477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086815-D997-433E-A0E1-EBDF1A25E8B3}"/>
              </a:ext>
            </a:extLst>
          </p:cNvPr>
          <p:cNvSpPr>
            <a:spLocks noGrp="1"/>
          </p:cNvSpPr>
          <p:nvPr/>
        </p:nvSpPr>
        <p:spPr>
          <a:xfrm>
            <a:off x="600075" y="561975"/>
            <a:ext cx="133350" cy="6477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FD6C68-0467-4C8C-818E-DED726C32B4C}"/>
              </a:ext>
            </a:extLst>
          </p:cNvPr>
          <p:cNvSpPr>
            <a:spLocks noGrp="1"/>
          </p:cNvSpPr>
          <p:nvPr/>
        </p:nvSpPr>
        <p:spPr>
          <a:xfrm>
            <a:off x="571500" y="533400"/>
            <a:ext cx="133350" cy="6477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6C8F162-41CF-4119-82AA-E479CB3995BF}"/>
              </a:ext>
            </a:extLst>
          </p:cNvPr>
          <p:cNvSpPr>
            <a:spLocks noGrp="1"/>
          </p:cNvSpPr>
          <p:nvPr/>
        </p:nvSpPr>
        <p:spPr>
          <a:xfrm>
            <a:off x="832485" y="561022"/>
            <a:ext cx="2628900" cy="525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模型验证结果</a:t>
            </a: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4034A7B-9983-480C-98F7-1DF09910264F}"/>
              </a:ext>
            </a:extLst>
          </p:cNvPr>
          <p:cNvSpPr>
            <a:spLocks noGrp="1"/>
          </p:cNvSpPr>
          <p:nvPr/>
        </p:nvSpPr>
        <p:spPr>
          <a:xfrm>
            <a:off x="571500" y="1447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1A1A1A"/>
            </a:solidFill>
          </a:ln>
        </p:spPr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60CB738F-26F0-4567-9154-7E90E262FBE3}"/>
              </a:ext>
            </a:extLst>
          </p:cNvPr>
          <p:cNvSpPr>
            <a:spLocks noGrp="1"/>
          </p:cNvSpPr>
          <p:nvPr/>
        </p:nvSpPr>
        <p:spPr>
          <a:xfrm>
            <a:off x="590550" y="1638300"/>
            <a:ext cx="3619500" cy="4724400"/>
          </a:xfrm>
          <a:prstGeom prst="rect">
            <a:avLst/>
          </a:prstGeom>
          <a:solidFill>
            <a:srgbClr val="FF5C8A"/>
          </a:solidFill>
          <a:ln>
            <a:noFill/>
          </a:ln>
        </p:spPr>
      </p:sp>
      <p:pic>
        <p:nvPicPr>
          <p:cNvPr id="70" name="Image 12">
            <a:extLst>
              <a:ext uri="{FF2B5EF4-FFF2-40B4-BE49-F238E27FC236}">
                <a16:creationId xmlns:a16="http://schemas.microsoft.com/office/drawing/2014/main" id="{C5E6FE2F-48B1-40CD-AE63-B94AC5CD77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1500" y="1619250"/>
            <a:ext cx="3619500" cy="4724400"/>
          </a:xfrm>
          <a:prstGeom prst="rect">
            <a:avLst/>
          </a:prstGeom>
        </p:spPr>
      </p:pic>
      <p:sp>
        <p:nvSpPr>
          <p:cNvPr id="13" name="Rectangle 13">
            <a:extLst>
              <a:ext uri="{FF2B5EF4-FFF2-40B4-BE49-F238E27FC236}">
                <a16:creationId xmlns:a16="http://schemas.microsoft.com/office/drawing/2014/main" id="{CBC63C72-3E4C-4344-B577-2FAE0B9E4E6C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619500" cy="3048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43E46A0-F4BF-4E68-AF02-74D69EFB1443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7239000" cy="22288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B013862D-AD06-4195-9C7B-B953B0AEAC79}"/>
              </a:ext>
            </a:extLst>
          </p:cNvPr>
          <p:cNvSpPr>
            <a:spLocks noGrp="1"/>
          </p:cNvSpPr>
          <p:nvPr/>
        </p:nvSpPr>
        <p:spPr>
          <a:xfrm>
            <a:off x="4410075" y="1647824"/>
            <a:ext cx="7239000" cy="2475233"/>
          </a:xfrm>
          <a:prstGeom prst="rect">
            <a:avLst/>
          </a:prstGeom>
          <a:solidFill>
            <a:srgbClr val="FF5C8A">
              <a:alpha val="55000"/>
            </a:srgbClr>
          </a:solidFill>
          <a:ln>
            <a:noFill/>
          </a:ln>
        </p:spPr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EFAE0A68-31EE-4DA2-AC27-9FE802323EF2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7239000" cy="24574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5140FCD4-14DA-4B1D-BBD5-89EE80A1E50C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2251800" cy="47625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0410109-503B-4400-BD51-A51F4DFBCA32}"/>
              </a:ext>
            </a:extLst>
          </p:cNvPr>
          <p:cNvSpPr>
            <a:spLocks noGrp="1"/>
          </p:cNvSpPr>
          <p:nvPr/>
        </p:nvSpPr>
        <p:spPr>
          <a:xfrm>
            <a:off x="4545330" y="1716405"/>
            <a:ext cx="10668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温度预测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CE6A700-C178-4913-92F6-851ECE63698E}"/>
              </a:ext>
            </a:extLst>
          </p:cNvPr>
          <p:cNvSpPr>
            <a:spLocks noGrp="1"/>
          </p:cNvSpPr>
          <p:nvPr/>
        </p:nvSpPr>
        <p:spPr>
          <a:xfrm>
            <a:off x="4552950" y="2152650"/>
            <a:ext cx="6781800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00"/>
            </a:defPPr>
            <a:lvl1pPr>
              <a:buNone/>
              <a:defRPr sz="1500"/>
            </a:lvl1pPr>
            <a:lvl2pPr>
              <a:buNone/>
              <a:defRPr sz="1500"/>
            </a:lvl2pPr>
            <a:lvl3pPr>
              <a:buNone/>
              <a:defRPr sz="15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algn="l">
              <a:lnSpc>
                <a:spcPct val="104000"/>
              </a:lnSpc>
              <a:buNone/>
              <a:defRPr sz="1500"/>
            </a:pPr>
            <a:r>
              <a:rPr sz="15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内部测试集：2025年1月至2026年10月，模型训练未使用该时段。</a:t>
            </a:r>
          </a:p>
          <a:p>
            <a:pPr algn="l">
              <a:lnSpc>
                <a:spcPct val="104000"/>
              </a:lnSpc>
              <a:buNone/>
              <a:defRPr sz="1500"/>
            </a:pPr>
            <a:r>
              <a:rPr sz="15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气温MAE为1.52℃，持续性基线为2.69℃，相对提升约41%。</a:t>
            </a:r>
          </a:p>
          <a:p>
            <a:pPr algn="l">
              <a:lnSpc>
                <a:spcPct val="104000"/>
              </a:lnSpc>
              <a:buNone/>
              <a:defRPr sz="1500"/>
            </a:pPr>
            <a:r>
              <a:rPr sz="15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24小时最低温±2℃准确率为74.1%。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7E80E938-C7B0-4DCE-96B1-77C1D2FB6E78}"/>
              </a:ext>
            </a:extLst>
          </p:cNvPr>
          <p:cNvSpPr>
            <a:spLocks noGrp="1"/>
          </p:cNvSpPr>
          <p:nvPr/>
        </p:nvSpPr>
        <p:spPr>
          <a:xfrm>
            <a:off x="4572000" y="3171825"/>
            <a:ext cx="2184368" cy="828674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25FA4E3-66DF-4032-91B6-B90331686EC9}"/>
              </a:ext>
            </a:extLst>
          </p:cNvPr>
          <p:cNvSpPr>
            <a:spLocks noGrp="1"/>
          </p:cNvSpPr>
          <p:nvPr/>
        </p:nvSpPr>
        <p:spPr>
          <a:xfrm>
            <a:off x="4572000" y="3204210"/>
            <a:ext cx="2184368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700"/>
            </a:defPPr>
            <a:lvl1pPr algn="ctr">
              <a:buNone/>
              <a:defRPr sz="2700"/>
            </a:lvl1pPr>
            <a:lvl2pPr algn="ctr">
              <a:buNone/>
              <a:defRPr sz="2700"/>
            </a:lvl2pPr>
            <a:lvl3pPr algn="ctr">
              <a:buNone/>
              <a:defRPr sz="2700"/>
            </a:lvl3pPr>
            <a:lvl4pPr algn="ctr">
              <a:buNone/>
              <a:defRPr sz="2700"/>
            </a:lvl4pPr>
            <a:lvl5pPr algn="ctr">
              <a:buNone/>
              <a:defRPr sz="2700"/>
            </a:lvl5pPr>
            <a:lvl6pPr algn="ctr">
              <a:buNone/>
              <a:defRPr sz="2700"/>
            </a:lvl6pPr>
            <a:lvl7pPr algn="ctr">
              <a:buNone/>
              <a:defRPr sz="2700"/>
            </a:lvl7pPr>
            <a:lvl8pPr algn="ctr">
              <a:buNone/>
              <a:defRPr sz="2700"/>
            </a:lvl8pPr>
            <a:lvl9pPr algn="ctr">
              <a:buNone/>
              <a:defRPr sz="2700"/>
            </a:lvl9pPr>
          </a:lstStyle>
          <a:p>
            <a:pPr algn="ctr">
              <a:buNone/>
              <a:defRPr sz="2700"/>
            </a:pPr>
            <a:r>
              <a:rPr sz="27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1.52℃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7960312-EC5C-4274-8E4F-DB58ADCAE4BA}"/>
              </a:ext>
            </a:extLst>
          </p:cNvPr>
          <p:cNvSpPr>
            <a:spLocks noGrp="1"/>
          </p:cNvSpPr>
          <p:nvPr/>
        </p:nvSpPr>
        <p:spPr>
          <a:xfrm>
            <a:off x="4572000" y="3633788"/>
            <a:ext cx="218436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>
                <a:solidFill>
                  <a:srgbClr val="F5EFE0"/>
                </a:solidFill>
                <a:latin typeface="Arial"/>
                <a:ea typeface="Arial"/>
                <a:cs typeface="Arial"/>
              </a:rPr>
              <a:t>平均温度误差</a:t>
            </a: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6B4C3EC8-951A-4FB1-9D14-BEE439A798C4}"/>
              </a:ext>
            </a:extLst>
          </p:cNvPr>
          <p:cNvSpPr>
            <a:spLocks noGrp="1"/>
          </p:cNvSpPr>
          <p:nvPr/>
        </p:nvSpPr>
        <p:spPr>
          <a:xfrm>
            <a:off x="6908768" y="3171825"/>
            <a:ext cx="2184368" cy="8382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8D23FD4-D8F9-49D4-B82B-F71CB6D376CE}"/>
              </a:ext>
            </a:extLst>
          </p:cNvPr>
          <p:cNvSpPr>
            <a:spLocks noGrp="1"/>
          </p:cNvSpPr>
          <p:nvPr/>
        </p:nvSpPr>
        <p:spPr>
          <a:xfrm>
            <a:off x="6908768" y="3204210"/>
            <a:ext cx="2184368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700"/>
            </a:defPPr>
            <a:lvl1pPr algn="ctr">
              <a:buNone/>
              <a:defRPr sz="2700"/>
            </a:lvl1pPr>
            <a:lvl2pPr algn="ctr">
              <a:buNone/>
              <a:defRPr sz="2700"/>
            </a:lvl2pPr>
            <a:lvl3pPr algn="ctr">
              <a:buNone/>
              <a:defRPr sz="2700"/>
            </a:lvl3pPr>
            <a:lvl4pPr algn="ctr">
              <a:buNone/>
              <a:defRPr sz="2700"/>
            </a:lvl4pPr>
            <a:lvl5pPr algn="ctr">
              <a:buNone/>
              <a:defRPr sz="2700"/>
            </a:lvl5pPr>
            <a:lvl6pPr algn="ctr">
              <a:buNone/>
              <a:defRPr sz="2700"/>
            </a:lvl6pPr>
            <a:lvl7pPr algn="ctr">
              <a:buNone/>
              <a:defRPr sz="2700"/>
            </a:lvl7pPr>
            <a:lvl8pPr algn="ctr">
              <a:buNone/>
              <a:defRPr sz="2700"/>
            </a:lvl8pPr>
            <a:lvl9pPr algn="ctr">
              <a:buNone/>
              <a:defRPr sz="2700"/>
            </a:lvl9pPr>
          </a:lstStyle>
          <a:p>
            <a:pPr algn="ctr">
              <a:buNone/>
              <a:defRPr sz="2700"/>
            </a:pPr>
            <a:r>
              <a:rPr sz="27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≈41%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468283C3-FDCF-4D8E-AA4A-589A4D06648E}"/>
              </a:ext>
            </a:extLst>
          </p:cNvPr>
          <p:cNvSpPr>
            <a:spLocks noGrp="1"/>
          </p:cNvSpPr>
          <p:nvPr/>
        </p:nvSpPr>
        <p:spPr>
          <a:xfrm>
            <a:off x="6908768" y="3633788"/>
            <a:ext cx="218436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/>
            </a:defPPr>
            <a:lvl1pPr algn="ctr">
              <a:buNone/>
              <a:defRPr sz="1800"/>
            </a:lvl1pPr>
            <a:lvl2pPr algn="ctr">
              <a:buNone/>
              <a:defRPr sz="1800"/>
            </a:lvl2pPr>
            <a:lvl3pPr algn="ctr">
              <a:buNone/>
              <a:defRPr sz="1800"/>
            </a:lvl3pPr>
            <a:lvl4pPr algn="ctr">
              <a:buNone/>
              <a:defRPr sz="1800"/>
            </a:lvl4pPr>
            <a:lvl5pPr algn="ctr">
              <a:buNone/>
              <a:defRPr sz="1800"/>
            </a:lvl5pPr>
            <a:lvl6pPr algn="ctr">
              <a:buNone/>
              <a:defRPr sz="1800"/>
            </a:lvl6pPr>
            <a:lvl7pPr algn="ctr">
              <a:buNone/>
              <a:defRPr sz="1800"/>
            </a:lvl7pPr>
            <a:lvl8pPr algn="ctr">
              <a:buNone/>
              <a:defRPr sz="1800"/>
            </a:lvl8pPr>
            <a:lvl9pPr algn="ctr">
              <a:buNone/>
              <a:defRPr sz="1800"/>
            </a:lvl9pPr>
          </a:lstStyle>
          <a:p>
            <a:pPr algn="ctr">
              <a:buNone/>
              <a:defRPr sz="1800"/>
            </a:pPr>
            <a:r>
              <a:rPr sz="1800">
                <a:solidFill>
                  <a:srgbClr val="F5EFE0"/>
                </a:solidFill>
                <a:latin typeface="Arial"/>
                <a:ea typeface="Arial"/>
                <a:cs typeface="Arial"/>
              </a:rPr>
              <a:t>相对提升</a:t>
            </a:r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4CA3A2A9-7332-45D6-9222-D51970C6A1E8}"/>
              </a:ext>
            </a:extLst>
          </p:cNvPr>
          <p:cNvSpPr>
            <a:spLocks noGrp="1"/>
          </p:cNvSpPr>
          <p:nvPr/>
        </p:nvSpPr>
        <p:spPr>
          <a:xfrm>
            <a:off x="9245632" y="3171824"/>
            <a:ext cx="2184368" cy="828675"/>
          </a:xfrm>
          <a:prstGeom prst="rect">
            <a:avLst/>
          </a:prstGeom>
          <a:solidFill>
            <a:srgbClr val="B9E769"/>
          </a:solidFill>
          <a:ln>
            <a:noFill/>
          </a:ln>
        </p:spPr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DD1FC31-A113-4F7C-ADBB-F9F589831755}"/>
              </a:ext>
            </a:extLst>
          </p:cNvPr>
          <p:cNvSpPr>
            <a:spLocks noGrp="1"/>
          </p:cNvSpPr>
          <p:nvPr/>
        </p:nvSpPr>
        <p:spPr>
          <a:xfrm>
            <a:off x="9245632" y="3236595"/>
            <a:ext cx="21843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24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74.1%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630210DA-D56C-4030-98D3-3DE8A0DDD30B}"/>
              </a:ext>
            </a:extLst>
          </p:cNvPr>
          <p:cNvSpPr>
            <a:spLocks noGrp="1"/>
          </p:cNvSpPr>
          <p:nvPr/>
        </p:nvSpPr>
        <p:spPr>
          <a:xfrm>
            <a:off x="9245632" y="3633788"/>
            <a:ext cx="218436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/>
            </a:defPPr>
            <a:lvl1pPr algn="ctr">
              <a:buNone/>
              <a:defRPr sz="1800"/>
            </a:lvl1pPr>
            <a:lvl2pPr algn="ctr">
              <a:buNone/>
              <a:defRPr sz="1800"/>
            </a:lvl2pPr>
            <a:lvl3pPr algn="ctr">
              <a:buNone/>
              <a:defRPr sz="1800"/>
            </a:lvl3pPr>
            <a:lvl4pPr algn="ctr">
              <a:buNone/>
              <a:defRPr sz="1800"/>
            </a:lvl4pPr>
            <a:lvl5pPr algn="ctr">
              <a:buNone/>
              <a:defRPr sz="1800"/>
            </a:lvl5pPr>
            <a:lvl6pPr algn="ctr">
              <a:buNone/>
              <a:defRPr sz="1800"/>
            </a:lvl6pPr>
            <a:lvl7pPr algn="ctr">
              <a:buNone/>
              <a:defRPr sz="1800"/>
            </a:lvl7pPr>
            <a:lvl8pPr algn="ctr">
              <a:buNone/>
              <a:defRPr sz="1800"/>
            </a:lvl8pPr>
            <a:lvl9pPr algn="ctr">
              <a:buNone/>
              <a:defRPr sz="1800"/>
            </a:lvl9pPr>
          </a:lstStyle>
          <a:p>
            <a:pPr algn="ctr">
              <a:buNone/>
              <a:defRPr sz="1800"/>
            </a:pPr>
            <a:r>
              <a:rPr sz="1800">
                <a:solidFill>
                  <a:srgbClr val="1A1A1A"/>
                </a:solidFill>
                <a:latin typeface="Arial"/>
                <a:ea typeface="Arial"/>
                <a:cs typeface="Arial"/>
              </a:rPr>
              <a:t>最低温±2℃内</a:t>
            </a:r>
          </a:p>
        </p:txBody>
      </p:sp>
      <p:sp>
        <p:nvSpPr>
          <p:cNvPr id="40" name="Rectangle 40">
            <a:extLst>
              <a:ext uri="{FF2B5EF4-FFF2-40B4-BE49-F238E27FC236}">
                <a16:creationId xmlns:a16="http://schemas.microsoft.com/office/drawing/2014/main" id="{BBF387E2-CC1E-458E-96F4-8902544B9A99}"/>
              </a:ext>
            </a:extLst>
          </p:cNvPr>
          <p:cNvSpPr>
            <a:spLocks noGrp="1"/>
          </p:cNvSpPr>
          <p:nvPr/>
        </p:nvSpPr>
        <p:spPr>
          <a:xfrm>
            <a:off x="4381500" y="4401457"/>
            <a:ext cx="7239000" cy="22288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445D3192-63A3-42A6-A70C-8D5FF767D3CF}"/>
              </a:ext>
            </a:extLst>
          </p:cNvPr>
          <p:cNvSpPr>
            <a:spLocks noGrp="1"/>
          </p:cNvSpPr>
          <p:nvPr/>
        </p:nvSpPr>
        <p:spPr>
          <a:xfrm>
            <a:off x="4410075" y="4430032"/>
            <a:ext cx="7239000" cy="2228850"/>
          </a:xfrm>
          <a:prstGeom prst="rect">
            <a:avLst/>
          </a:prstGeom>
          <a:solidFill>
            <a:srgbClr val="1E4DBC">
              <a:alpha val="55000"/>
            </a:srgbClr>
          </a:solidFill>
          <a:ln>
            <a:noFill/>
          </a:ln>
        </p:spPr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6E202920-02C1-46B7-8531-892E398DDF23}"/>
              </a:ext>
            </a:extLst>
          </p:cNvPr>
          <p:cNvSpPr>
            <a:spLocks noGrp="1"/>
          </p:cNvSpPr>
          <p:nvPr/>
        </p:nvSpPr>
        <p:spPr>
          <a:xfrm>
            <a:off x="4381500" y="4230007"/>
            <a:ext cx="7239000" cy="24003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3" name="Rectangle 43">
            <a:extLst>
              <a:ext uri="{FF2B5EF4-FFF2-40B4-BE49-F238E27FC236}">
                <a16:creationId xmlns:a16="http://schemas.microsoft.com/office/drawing/2014/main" id="{57BF00B0-B243-4899-A6D9-65EB63E375E8}"/>
              </a:ext>
            </a:extLst>
          </p:cNvPr>
          <p:cNvSpPr>
            <a:spLocks noGrp="1"/>
          </p:cNvSpPr>
          <p:nvPr/>
        </p:nvSpPr>
        <p:spPr>
          <a:xfrm>
            <a:off x="4381500" y="4234546"/>
            <a:ext cx="2251800" cy="476250"/>
          </a:xfrm>
          <a:prstGeom prst="rect">
            <a:avLst/>
          </a:prstGeom>
          <a:solidFill>
            <a:srgbClr val="25C5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D374383D-2212-4622-9759-B24D41D1C12E}"/>
              </a:ext>
            </a:extLst>
          </p:cNvPr>
          <p:cNvSpPr>
            <a:spLocks noGrp="1"/>
          </p:cNvSpPr>
          <p:nvPr/>
        </p:nvSpPr>
        <p:spPr>
          <a:xfrm>
            <a:off x="4545330" y="4331701"/>
            <a:ext cx="18669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霜冻与不确定性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ABED4914-4293-4F21-B17B-4FA2D431AF3E}"/>
              </a:ext>
            </a:extLst>
          </p:cNvPr>
          <p:cNvSpPr>
            <a:spLocks noGrp="1"/>
          </p:cNvSpPr>
          <p:nvPr/>
        </p:nvSpPr>
        <p:spPr>
          <a:xfrm>
            <a:off x="4552950" y="4857750"/>
            <a:ext cx="6781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00"/>
            </a:defPPr>
            <a:lvl1pPr>
              <a:buNone/>
              <a:defRPr sz="1500"/>
            </a:lvl1pPr>
            <a:lvl2pPr>
              <a:buNone/>
              <a:defRPr sz="1500"/>
            </a:lvl2pPr>
            <a:lvl3pPr>
              <a:buNone/>
              <a:defRPr sz="15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algn="l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霜冻预警POD（命中率）为0.98，FAR（误报率）为0.19。</a:t>
            </a:r>
          </a:p>
          <a:p>
            <a:pPr algn="l">
              <a:lnSpc>
                <a:spcPct val="105000"/>
              </a:lnSpc>
              <a:buNone/>
              <a:defRPr sz="1500"/>
            </a:pPr>
            <a:r>
              <a:rPr sz="1500" b="1">
                <a:solidFill>
                  <a:srgbClr val="F5EFE0"/>
                </a:solidFill>
                <a:latin typeface="Arial"/>
                <a:ea typeface="Arial"/>
                <a:cs typeface="Arial"/>
              </a:rPr>
              <a:t>P10至P90不确定性区间覆盖约78%的真实值。</a:t>
            </a: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9583FB5F-C7F6-4289-AF5D-5F6E6D6EF027}"/>
              </a:ext>
            </a:extLst>
          </p:cNvPr>
          <p:cNvSpPr>
            <a:spLocks noGrp="1"/>
          </p:cNvSpPr>
          <p:nvPr/>
        </p:nvSpPr>
        <p:spPr>
          <a:xfrm>
            <a:off x="4572000" y="5734050"/>
            <a:ext cx="3352800" cy="789668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298FB872-9F0A-46F7-B851-BBDE0CB2F2EA}"/>
              </a:ext>
            </a:extLst>
          </p:cNvPr>
          <p:cNvSpPr>
            <a:spLocks noGrp="1"/>
          </p:cNvSpPr>
          <p:nvPr/>
        </p:nvSpPr>
        <p:spPr>
          <a:xfrm>
            <a:off x="4572000" y="5782628"/>
            <a:ext cx="3352800" cy="388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25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0.98 / 0.19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6A9AEAAE-233A-4822-88F6-59591D805B82}"/>
              </a:ext>
            </a:extLst>
          </p:cNvPr>
          <p:cNvSpPr>
            <a:spLocks noGrp="1"/>
          </p:cNvSpPr>
          <p:nvPr/>
        </p:nvSpPr>
        <p:spPr>
          <a:xfrm>
            <a:off x="4572000" y="6196013"/>
            <a:ext cx="3352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>
                <a:solidFill>
                  <a:srgbClr val="F5EFE0"/>
                </a:solidFill>
                <a:latin typeface="Arial"/>
                <a:ea typeface="Arial"/>
                <a:cs typeface="Arial"/>
              </a:rPr>
              <a:t>命中率 / 误报率</a:t>
            </a:r>
          </a:p>
        </p:txBody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0E013036-4AC4-48FF-A997-D55FF511A6DB}"/>
              </a:ext>
            </a:extLst>
          </p:cNvPr>
          <p:cNvSpPr>
            <a:spLocks noGrp="1"/>
          </p:cNvSpPr>
          <p:nvPr/>
        </p:nvSpPr>
        <p:spPr>
          <a:xfrm>
            <a:off x="8077200" y="5734050"/>
            <a:ext cx="3352800" cy="789668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11361736-57FC-4977-A0AD-19F11C594E29}"/>
              </a:ext>
            </a:extLst>
          </p:cNvPr>
          <p:cNvSpPr>
            <a:spLocks noGrp="1"/>
          </p:cNvSpPr>
          <p:nvPr/>
        </p:nvSpPr>
        <p:spPr>
          <a:xfrm>
            <a:off x="8077200" y="5782628"/>
            <a:ext cx="3352800" cy="388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255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≈78%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E9F51BDC-F3CF-4B70-AC4E-18B25269D5B0}"/>
              </a:ext>
            </a:extLst>
          </p:cNvPr>
          <p:cNvSpPr>
            <a:spLocks noGrp="1"/>
          </p:cNvSpPr>
          <p:nvPr/>
        </p:nvSpPr>
        <p:spPr>
          <a:xfrm>
            <a:off x="8077200" y="6196013"/>
            <a:ext cx="3352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>
                <a:solidFill>
                  <a:srgbClr val="F5EFE0"/>
                </a:solidFill>
                <a:latin typeface="Arial"/>
                <a:ea typeface="Arial"/>
                <a:cs typeface="Arial"/>
              </a:rPr>
              <a:t>预测区间覆盖</a:t>
            </a:r>
          </a:p>
        </p:txBody>
      </p:sp>
      <p:sp>
        <p:nvSpPr>
          <p:cNvPr id="60" name="Line 60">
            <a:extLst>
              <a:ext uri="{FF2B5EF4-FFF2-40B4-BE49-F238E27FC236}">
                <a16:creationId xmlns:a16="http://schemas.microsoft.com/office/drawing/2014/main" id="{D60EB5DC-1FF2-4DDD-98D8-20D7D984B4B9}"/>
              </a:ext>
            </a:extLst>
          </p:cNvPr>
          <p:cNvSpPr>
            <a:spLocks noGrp="1"/>
          </p:cNvSpPr>
          <p:nvPr/>
        </p:nvSpPr>
        <p:spPr>
          <a:xfrm>
            <a:off x="571500" y="6572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A1A1A"/>
            </a:solidFill>
          </a:ln>
        </p:spPr>
      </p:sp>
    </p:spTree>
    <p:extLst>
      <p:ext uri="{BB962C8B-B14F-4D97-AF65-F5344CB8AC3E}">
        <p14:creationId xmlns:p14="http://schemas.microsoft.com/office/powerpoint/2010/main" val="1151414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uture-accent">
            <a:extLst>
              <a:ext uri="{FF2B5EF4-FFF2-40B4-BE49-F238E27FC236}">
                <a16:creationId xmlns:a16="http://schemas.microsoft.com/office/drawing/2014/main" id="{FFDC2D6D-2DC9-44D1-B6F4-36F6A8825A10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33350" cy="762000"/>
          </a:xfrm>
          <a:prstGeom prst="rect">
            <a:avLst/>
          </a:prstGeom>
          <a:solidFill>
            <a:srgbClr val="075F3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future-title">
            <a:extLst>
              <a:ext uri="{FF2B5EF4-FFF2-40B4-BE49-F238E27FC236}">
                <a16:creationId xmlns:a16="http://schemas.microsoft.com/office/drawing/2014/main" id="{47B900A4-47EB-438A-B803-2F6DCB483B3D}"/>
              </a:ext>
            </a:extLst>
          </p:cNvPr>
          <p:cNvSpPr>
            <a:spLocks noGrp="1"/>
          </p:cNvSpPr>
          <p:nvPr/>
        </p:nvSpPr>
        <p:spPr>
          <a:xfrm>
            <a:off x="924254" y="247650"/>
            <a:ext cx="2857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buNone/>
              <a:defRPr sz="4800">
                <a:solidFill>
                  <a:srgbClr val="F5EFE0"/>
                </a:solidFill>
                <a:latin typeface="Impact"/>
                <a:ea typeface="Impact"/>
                <a:cs typeface="Impact"/>
              </a:defRPr>
            </a:pPr>
            <a:r>
              <a:rPr sz="48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产品价值</a:t>
            </a:r>
          </a:p>
          <a:p>
            <a:pPr algn="l">
              <a:buNone/>
              <a:defRPr sz="4800">
                <a:solidFill>
                  <a:srgbClr val="F5EFE0"/>
                </a:solidFill>
                <a:latin typeface="Impact"/>
                <a:ea typeface="Impact"/>
                <a:cs typeface="Impact"/>
              </a:defRPr>
            </a:pPr>
            <a:r>
              <a:rPr sz="48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与运营</a:t>
            </a:r>
          </a:p>
        </p:txBody>
      </p:sp>
      <p:sp>
        <p:nvSpPr>
          <p:cNvPr id="3" name="future-lead">
            <a:extLst>
              <a:ext uri="{FF2B5EF4-FFF2-40B4-BE49-F238E27FC236}">
                <a16:creationId xmlns:a16="http://schemas.microsoft.com/office/drawing/2014/main" id="{111A0DFE-0B8C-4D2D-B154-77A829CCA888}"/>
              </a:ext>
            </a:extLst>
          </p:cNvPr>
          <p:cNvSpPr>
            <a:spLocks noGrp="1"/>
          </p:cNvSpPr>
          <p:nvPr/>
        </p:nvSpPr>
        <p:spPr>
          <a:xfrm>
            <a:off x="247649" y="3045843"/>
            <a:ext cx="36385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>
              <a:defRPr sz="2400"/>
            </a:defPPr>
            <a:lvl1pPr>
              <a:buNone/>
              <a:defRPr sz="2400"/>
            </a:lvl1pPr>
            <a:lvl2pPr>
              <a:buNone/>
              <a:defRPr sz="2400"/>
            </a:lvl2pPr>
            <a:lvl3pPr>
              <a:buNone/>
              <a:defRPr sz="2400"/>
            </a:lvl3pPr>
            <a:lvl4pPr>
              <a:buNone/>
              <a:defRPr sz="2400"/>
            </a:lvl4pPr>
            <a:lvl5pPr>
              <a:buNone/>
              <a:defRPr sz="2400"/>
            </a:lvl5pPr>
            <a:lvl6pPr>
              <a:buNone/>
              <a:defRPr sz="2400"/>
            </a:lvl6pPr>
            <a:lvl7pPr>
              <a:buNone/>
              <a:defRPr sz="2400"/>
            </a:lvl7pPr>
            <a:lvl8pPr>
              <a:buNone/>
              <a:defRPr sz="2400"/>
            </a:lvl8pPr>
            <a:lvl9pPr>
              <a:buNone/>
              <a:defRPr sz="2400"/>
            </a:lvl9pPr>
          </a:lstStyle>
          <a:p>
            <a:pPr algn="l">
              <a:lnSpc>
                <a:spcPct val="105000"/>
              </a:lnSpc>
              <a:buNone/>
              <a:defRPr sz="2400" b="1">
                <a:solidFill>
                  <a:srgbClr val="F5EFE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03C18"/>
                </a:solidFill>
                <a:latin typeface="Arial"/>
                <a:ea typeface="Arial"/>
                <a:cs typeface="Arial"/>
              </a:rPr>
              <a:t>先在真实茶园中验证预警与建议</a:t>
            </a:r>
          </a:p>
          <a:p>
            <a:pPr algn="l">
              <a:lnSpc>
                <a:spcPct val="105000"/>
              </a:lnSpc>
              <a:buNone/>
              <a:defRPr sz="2400" b="1">
                <a:solidFill>
                  <a:srgbClr val="F5EFE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03C18"/>
                </a:solidFill>
                <a:latin typeface="Arial"/>
                <a:ea typeface="Arial"/>
                <a:cs typeface="Arial"/>
              </a:rPr>
              <a:t>再逐步扩展多地块管理和增值服务</a:t>
            </a:r>
          </a:p>
        </p:txBody>
      </p:sp>
      <p:sp>
        <p:nvSpPr>
          <p:cNvPr id="5" name="future-divider">
            <a:extLst>
              <a:ext uri="{FF2B5EF4-FFF2-40B4-BE49-F238E27FC236}">
                <a16:creationId xmlns:a16="http://schemas.microsoft.com/office/drawing/2014/main" id="{00ADF3BE-4421-4314-A05C-F521E2DF2638}"/>
              </a:ext>
            </a:extLst>
          </p:cNvPr>
          <p:cNvSpPr>
            <a:spLocks noGrp="1"/>
          </p:cNvSpPr>
          <p:nvPr/>
        </p:nvSpPr>
        <p:spPr>
          <a:xfrm>
            <a:off x="3886199" y="552450"/>
            <a:ext cx="19050" cy="5753100"/>
          </a:xfrm>
          <a:prstGeom prst="rect">
            <a:avLst/>
          </a:prstGeom>
          <a:solidFill>
            <a:srgbClr val="075F3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uture-number-01">
            <a:extLst>
              <a:ext uri="{FF2B5EF4-FFF2-40B4-BE49-F238E27FC236}">
                <a16:creationId xmlns:a16="http://schemas.microsoft.com/office/drawing/2014/main" id="{769AAEB2-319B-4020-A9B4-04CE394D2C6F}"/>
              </a:ext>
            </a:extLst>
          </p:cNvPr>
          <p:cNvSpPr>
            <a:spLocks noGrp="1"/>
          </p:cNvSpPr>
          <p:nvPr/>
        </p:nvSpPr>
        <p:spPr>
          <a:xfrm>
            <a:off x="4095750" y="704850"/>
            <a:ext cx="1047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4800">
                <a:solidFill>
                  <a:srgbClr val="FF7EA7"/>
                </a:solidFill>
                <a:latin typeface="Impact"/>
                <a:ea typeface="Impact"/>
                <a:cs typeface="Impact"/>
              </a:defRPr>
            </a:pPr>
            <a:r>
              <a:rPr sz="4800">
                <a:solidFill>
                  <a:srgbClr val="075F3F"/>
                </a:solidFill>
                <a:latin typeface="Impact"/>
                <a:ea typeface="Impact"/>
                <a:cs typeface="Impact"/>
              </a:rPr>
              <a:t>01</a:t>
            </a:r>
          </a:p>
        </p:txBody>
      </p:sp>
      <p:sp>
        <p:nvSpPr>
          <p:cNvPr id="7" name="future-heading-01">
            <a:extLst>
              <a:ext uri="{FF2B5EF4-FFF2-40B4-BE49-F238E27FC236}">
                <a16:creationId xmlns:a16="http://schemas.microsoft.com/office/drawing/2014/main" id="{454A26D8-EF88-4021-86C5-0F9465F4EB5C}"/>
              </a:ext>
            </a:extLst>
          </p:cNvPr>
          <p:cNvSpPr>
            <a:spLocks noGrp="1"/>
          </p:cNvSpPr>
          <p:nvPr/>
        </p:nvSpPr>
        <p:spPr>
          <a:xfrm>
            <a:off x="5429250" y="742950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>
              <a:defRPr sz="3000"/>
            </a:defPPr>
            <a:lvl1pPr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algn="l">
              <a:buNone/>
              <a:defRPr sz="3000">
                <a:solidFill>
                  <a:srgbClr val="F5EFE0"/>
                </a:solidFill>
                <a:latin typeface="Impact"/>
                <a:ea typeface="Impact"/>
                <a:cs typeface="Impact"/>
              </a:defRPr>
            </a:pPr>
            <a:r>
              <a:rPr sz="30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茶农价值</a:t>
            </a:r>
          </a:p>
        </p:txBody>
      </p:sp>
      <p:sp>
        <p:nvSpPr>
          <p:cNvPr id="8" name="future-body-01">
            <a:extLst>
              <a:ext uri="{FF2B5EF4-FFF2-40B4-BE49-F238E27FC236}">
                <a16:creationId xmlns:a16="http://schemas.microsoft.com/office/drawing/2014/main" id="{D09B7976-0CFC-4796-A923-385E960D5B39}"/>
              </a:ext>
            </a:extLst>
          </p:cNvPr>
          <p:cNvSpPr>
            <a:spLocks noGrp="1"/>
          </p:cNvSpPr>
          <p:nvPr/>
        </p:nvSpPr>
        <p:spPr>
          <a:xfrm>
            <a:off x="5429250" y="1295400"/>
            <a:ext cx="6572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>
              <a:defRPr sz="2100"/>
            </a:defPPr>
            <a:lvl1pPr>
              <a:defRPr sz="2100"/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algn="l">
              <a:lnSpc>
                <a:spcPct val="100000"/>
              </a:lnSpc>
              <a:buNone/>
              <a:defRPr sz="2100">
                <a:solidFill>
                  <a:srgbClr val="DFE8D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B5B55"/>
                </a:solidFill>
                <a:latin typeface="Arial"/>
                <a:ea typeface="Arial"/>
                <a:cs typeface="Arial"/>
              </a:rPr>
              <a:t>茶农可提前看到风险时段和影响，</a:t>
            </a:r>
            <a:endParaRPr sz="2000">
              <a:solidFill>
                <a:srgbClr val="5B5B55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2100">
                <a:solidFill>
                  <a:srgbClr val="DFE8D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B5B55"/>
                </a:solidFill>
                <a:latin typeface="Arial"/>
                <a:ea typeface="Arial"/>
                <a:cs typeface="Arial"/>
              </a:rPr>
              <a:t>安排灌溉、遮阴、采摘与加工，</a:t>
            </a:r>
            <a:endParaRPr sz="2000">
              <a:solidFill>
                <a:srgbClr val="5B5B55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2100">
                <a:solidFill>
                  <a:srgbClr val="DFE8D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B5B55"/>
                </a:solidFill>
                <a:latin typeface="Arial"/>
                <a:ea typeface="Arial"/>
                <a:cs typeface="Arial"/>
              </a:rPr>
              <a:t>减少反复查看天气和临时决策的成本</a:t>
            </a:r>
            <a:endParaRPr sz="2000">
              <a:solidFill>
                <a:srgbClr val="5B5B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future-number-02">
            <a:extLst>
              <a:ext uri="{FF2B5EF4-FFF2-40B4-BE49-F238E27FC236}">
                <a16:creationId xmlns:a16="http://schemas.microsoft.com/office/drawing/2014/main" id="{7B4A20EB-67F6-4028-B930-A4D4A05BE310}"/>
              </a:ext>
            </a:extLst>
          </p:cNvPr>
          <p:cNvSpPr>
            <a:spLocks noGrp="1"/>
          </p:cNvSpPr>
          <p:nvPr/>
        </p:nvSpPr>
        <p:spPr>
          <a:xfrm>
            <a:off x="4095750" y="2571750"/>
            <a:ext cx="1047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4800">
                <a:solidFill>
                  <a:srgbClr val="27C995"/>
                </a:solidFill>
                <a:latin typeface="Impact"/>
                <a:ea typeface="Impact"/>
                <a:cs typeface="Impact"/>
              </a:defRPr>
            </a:pPr>
            <a:r>
              <a:rPr sz="4800">
                <a:solidFill>
                  <a:srgbClr val="27C995"/>
                </a:solidFill>
                <a:latin typeface="Impact"/>
                <a:ea typeface="Impact"/>
                <a:cs typeface="Impact"/>
              </a:rPr>
              <a:t>02</a:t>
            </a:r>
          </a:p>
        </p:txBody>
      </p:sp>
      <p:sp>
        <p:nvSpPr>
          <p:cNvPr id="11" name="future-heading-02">
            <a:extLst>
              <a:ext uri="{FF2B5EF4-FFF2-40B4-BE49-F238E27FC236}">
                <a16:creationId xmlns:a16="http://schemas.microsoft.com/office/drawing/2014/main" id="{18287BC6-4E1D-4D32-926A-36DFFC11687D}"/>
              </a:ext>
            </a:extLst>
          </p:cNvPr>
          <p:cNvSpPr>
            <a:spLocks noGrp="1"/>
          </p:cNvSpPr>
          <p:nvPr/>
        </p:nvSpPr>
        <p:spPr>
          <a:xfrm>
            <a:off x="5429250" y="2609850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>
              <a:defRPr sz="3000"/>
            </a:defPPr>
            <a:lvl1pPr>
              <a:buNone/>
              <a:defRPr sz="2700"/>
            </a:lvl1pPr>
            <a:lvl2pPr>
              <a:buNone/>
              <a:defRPr sz="2700"/>
            </a:lvl2pPr>
            <a:lvl3pPr>
              <a:buNone/>
              <a:defRPr sz="2700"/>
            </a:lvl3pPr>
            <a:lvl4pPr>
              <a:buNone/>
              <a:defRPr sz="2700"/>
            </a:lvl4pPr>
            <a:lvl5pPr>
              <a:buNone/>
              <a:defRPr sz="2700"/>
            </a:lvl5pPr>
            <a:lvl6pPr>
              <a:buNone/>
              <a:defRPr sz="2700"/>
            </a:lvl6pPr>
            <a:lvl7pPr>
              <a:buNone/>
              <a:defRPr sz="2700"/>
            </a:lvl7pPr>
            <a:lvl8pPr>
              <a:buNone/>
              <a:defRPr sz="2700"/>
            </a:lvl8pPr>
            <a:lvl9pPr>
              <a:buNone/>
              <a:defRPr sz="2700"/>
            </a:lvl9pPr>
          </a:lstStyle>
          <a:p>
            <a:pPr algn="l">
              <a:buNone/>
              <a:defRPr sz="3000">
                <a:solidFill>
                  <a:srgbClr val="F5EFE0"/>
                </a:solidFill>
                <a:latin typeface="Impact"/>
                <a:ea typeface="Impact"/>
                <a:cs typeface="Impact"/>
              </a:defRPr>
            </a:pPr>
            <a:r>
              <a:rPr sz="30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经营与农技服务</a:t>
            </a:r>
          </a:p>
        </p:txBody>
      </p:sp>
      <p:sp>
        <p:nvSpPr>
          <p:cNvPr id="12" name="future-body-02">
            <a:extLst>
              <a:ext uri="{FF2B5EF4-FFF2-40B4-BE49-F238E27FC236}">
                <a16:creationId xmlns:a16="http://schemas.microsoft.com/office/drawing/2014/main" id="{470318C8-4BD9-40C8-9A99-E639D3F572E2}"/>
              </a:ext>
            </a:extLst>
          </p:cNvPr>
          <p:cNvSpPr>
            <a:spLocks noGrp="1"/>
          </p:cNvSpPr>
          <p:nvPr/>
        </p:nvSpPr>
        <p:spPr>
          <a:xfrm>
            <a:off x="5429250" y="3124200"/>
            <a:ext cx="65532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>
              <a:defRPr sz="2100"/>
            </a:defPPr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algn="l">
              <a:lnSpc>
                <a:spcPct val="100000"/>
              </a:lnSpc>
              <a:buNone/>
              <a:defRPr sz="2100">
                <a:solidFill>
                  <a:srgbClr val="DFE8D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B5B55"/>
                </a:solidFill>
                <a:latin typeface="Arial"/>
                <a:ea typeface="Arial"/>
                <a:cs typeface="Arial"/>
              </a:rPr>
              <a:t>茶园经营者、合作社和基层农技人员</a:t>
            </a:r>
            <a:endParaRPr sz="2000">
              <a:solidFill>
                <a:srgbClr val="5B5B55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2100">
                <a:solidFill>
                  <a:srgbClr val="DFE8D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B5B55"/>
                </a:solidFill>
                <a:latin typeface="Arial"/>
                <a:ea typeface="Arial"/>
                <a:cs typeface="Arial"/>
              </a:rPr>
              <a:t>可查看多个地块的预警、建议和历史记录，</a:t>
            </a:r>
            <a:endParaRPr sz="2000">
              <a:solidFill>
                <a:srgbClr val="5B5B55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2100">
                <a:solidFill>
                  <a:srgbClr val="DFE8D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B5B55"/>
                </a:solidFill>
                <a:latin typeface="Arial"/>
                <a:ea typeface="Arial"/>
                <a:cs typeface="Arial"/>
              </a:rPr>
              <a:t>统一安排人员与资源，并为农户提供指导</a:t>
            </a:r>
            <a:endParaRPr sz="2000">
              <a:solidFill>
                <a:srgbClr val="5B5B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future-number-03">
            <a:extLst>
              <a:ext uri="{FF2B5EF4-FFF2-40B4-BE49-F238E27FC236}">
                <a16:creationId xmlns:a16="http://schemas.microsoft.com/office/drawing/2014/main" id="{773367F0-1FCE-4863-8192-5B48453011B3}"/>
              </a:ext>
            </a:extLst>
          </p:cNvPr>
          <p:cNvSpPr>
            <a:spLocks noGrp="1"/>
          </p:cNvSpPr>
          <p:nvPr/>
        </p:nvSpPr>
        <p:spPr>
          <a:xfrm>
            <a:off x="4095750" y="4438650"/>
            <a:ext cx="1047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4800">
                <a:solidFill>
                  <a:srgbClr val="B5E85F"/>
                </a:solidFill>
                <a:latin typeface="Impact"/>
                <a:ea typeface="Impact"/>
                <a:cs typeface="Impact"/>
              </a:defRPr>
            </a:pPr>
            <a:r>
              <a:rPr sz="4800">
                <a:solidFill>
                  <a:srgbClr val="FF7EA7"/>
                </a:solidFill>
                <a:latin typeface="Impact"/>
                <a:ea typeface="Impact"/>
                <a:cs typeface="Impact"/>
              </a:rPr>
              <a:t>03</a:t>
            </a:r>
          </a:p>
        </p:txBody>
      </p:sp>
      <p:sp>
        <p:nvSpPr>
          <p:cNvPr id="15" name="future-heading-03">
            <a:extLst>
              <a:ext uri="{FF2B5EF4-FFF2-40B4-BE49-F238E27FC236}">
                <a16:creationId xmlns:a16="http://schemas.microsoft.com/office/drawing/2014/main" id="{7EF66704-D9E9-4A18-B93A-D9D5D2163871}"/>
              </a:ext>
            </a:extLst>
          </p:cNvPr>
          <p:cNvSpPr>
            <a:spLocks noGrp="1"/>
          </p:cNvSpPr>
          <p:nvPr/>
        </p:nvSpPr>
        <p:spPr>
          <a:xfrm>
            <a:off x="5429250" y="4476750"/>
            <a:ext cx="542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>
              <a:defRPr sz="3000"/>
            </a:defPPr>
            <a:lvl1pPr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algn="l">
              <a:buNone/>
              <a:defRPr sz="3000">
                <a:solidFill>
                  <a:srgbClr val="F5EFE0"/>
                </a:solidFill>
                <a:latin typeface="Impact"/>
                <a:ea typeface="Impact"/>
                <a:cs typeface="Impact"/>
              </a:defRPr>
            </a:pPr>
            <a:r>
              <a:rPr sz="3000">
                <a:solidFill>
                  <a:srgbClr val="1A1A1A"/>
                </a:solidFill>
                <a:latin typeface="Impact"/>
                <a:ea typeface="Impact"/>
                <a:cs typeface="Impact"/>
              </a:rPr>
              <a:t>收费功能</a:t>
            </a:r>
          </a:p>
        </p:txBody>
      </p:sp>
      <p:sp>
        <p:nvSpPr>
          <p:cNvPr id="16" name="future-body-03">
            <a:extLst>
              <a:ext uri="{FF2B5EF4-FFF2-40B4-BE49-F238E27FC236}">
                <a16:creationId xmlns:a16="http://schemas.microsoft.com/office/drawing/2014/main" id="{0B1A1F15-9BB5-4A52-A374-CB931DA15135}"/>
              </a:ext>
            </a:extLst>
          </p:cNvPr>
          <p:cNvSpPr>
            <a:spLocks noGrp="1"/>
          </p:cNvSpPr>
          <p:nvPr/>
        </p:nvSpPr>
        <p:spPr>
          <a:xfrm>
            <a:off x="5410200" y="5105400"/>
            <a:ext cx="65532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>
            <a:defPPr>
              <a:defRPr sz="2100"/>
            </a:defPPr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algn="l">
              <a:lnSpc>
                <a:spcPct val="100000"/>
              </a:lnSpc>
              <a:buNone/>
              <a:defRPr sz="2100">
                <a:solidFill>
                  <a:srgbClr val="DFE8D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B5B55"/>
                </a:solidFill>
                <a:latin typeface="Arial"/>
                <a:ea typeface="Arial"/>
                <a:cs typeface="Arial"/>
              </a:rPr>
              <a:t>基础预测和常规预警保持免费，</a:t>
            </a:r>
            <a:endParaRPr sz="2000">
              <a:solidFill>
                <a:srgbClr val="5B5B55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2100">
                <a:solidFill>
                  <a:srgbClr val="DFE8D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B5B55"/>
                </a:solidFill>
                <a:latin typeface="Arial"/>
                <a:ea typeface="Arial"/>
                <a:cs typeface="Arial"/>
              </a:rPr>
              <a:t>高级预警、多地块管理、历史分析和定制提醒</a:t>
            </a:r>
            <a:endParaRPr sz="2000">
              <a:solidFill>
                <a:srgbClr val="5B5B55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2100">
                <a:solidFill>
                  <a:srgbClr val="DFE8D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B5B55"/>
                </a:solidFill>
                <a:latin typeface="Arial"/>
                <a:ea typeface="Arial"/>
                <a:cs typeface="Arial"/>
              </a:rPr>
              <a:t>可作为收费服务逐步上线</a:t>
            </a:r>
            <a:endParaRPr sz="2000">
              <a:solidFill>
                <a:srgbClr val="5B5B5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7884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75C3D33-B527-4C50-9E58-3D565699E9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</p:sp>
      <p:pic>
        <p:nvPicPr>
          <p:cNvPr id="30" name="Image 3">
            <a:extLst>
              <a:ext uri="{FF2B5EF4-FFF2-40B4-BE49-F238E27FC236}">
                <a16:creationId xmlns:a16="http://schemas.microsoft.com/office/drawing/2014/main" id="{379E19A5-3521-4141-88A4-CFB102ED6D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391475F5-9D43-4B76-AA5D-23C607235B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F5EFE0">
                  <a:alpha val="94000"/>
                </a:srgbClr>
              </a:gs>
              <a:gs pos="55000">
                <a:srgbClr val="F5EFE0">
                  <a:alpha val="20000"/>
                </a:srgbClr>
              </a:gs>
              <a:gs pos="100000">
                <a:srgbClr val="F5EFE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77BE3B-054D-4BEA-AA0D-9B66BDEDB9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B5199CE-A9DC-432A-A31A-234B409CFAA5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2095500" cy="3429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BD5E152-E47F-4E61-80DD-433C9500A499}"/>
              </a:ext>
            </a:extLst>
          </p:cNvPr>
          <p:cNvSpPr>
            <a:spLocks noGrp="1"/>
          </p:cNvSpPr>
          <p:nvPr/>
        </p:nvSpPr>
        <p:spPr>
          <a:xfrm>
            <a:off x="600075" y="504825"/>
            <a:ext cx="2095500" cy="3429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8B175073-740F-40FF-8BE8-546ACE30B938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2095500" cy="342900"/>
          </a:xfrm>
          <a:prstGeom prst="rect">
            <a:avLst/>
          </a:prstGeom>
          <a:solidFill>
            <a:srgbClr val="0B5D3B"/>
          </a:solidFill>
          <a:ln>
            <a:noFill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F444AD9-7730-4C53-AF98-AF35F7A392C3}"/>
              </a:ext>
            </a:extLst>
          </p:cNvPr>
          <p:cNvSpPr>
            <a:spLocks noGrp="1"/>
          </p:cNvSpPr>
          <p:nvPr/>
        </p:nvSpPr>
        <p:spPr>
          <a:xfrm>
            <a:off x="1047750" y="5143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00"/>
            </a:pPr>
            <a:r>
              <a:rPr sz="18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下一步</a:t>
            </a:r>
            <a:r>
              <a:rPr sz="16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——</a:t>
            </a:r>
            <a:endParaRPr sz="1800">
              <a:solidFill>
                <a:srgbClr val="F5EFE0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C2D9C8-2692-4809-9553-7498BDF8C3B7}"/>
              </a:ext>
            </a:extLst>
          </p:cNvPr>
          <p:cNvSpPr>
            <a:spLocks noGrp="1"/>
          </p:cNvSpPr>
          <p:nvPr/>
        </p:nvSpPr>
        <p:spPr>
          <a:xfrm>
            <a:off x="614274" y="1388706"/>
            <a:ext cx="28575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7500">
                <a:solidFill>
                  <a:srgbClr val="25C58A"/>
                </a:solidFill>
                <a:latin typeface="Impact"/>
                <a:ea typeface="Impact"/>
                <a:cs typeface="Impact"/>
              </a:rPr>
              <a:t>梅家坞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2F807BC-E216-47FF-B9E2-C9A51279B1A3}"/>
              </a:ext>
            </a:extLst>
          </p:cNvPr>
          <p:cNvSpPr>
            <a:spLocks noGrp="1"/>
          </p:cNvSpPr>
          <p:nvPr/>
        </p:nvSpPr>
        <p:spPr>
          <a:xfrm>
            <a:off x="595224" y="1369656"/>
            <a:ext cx="28575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7500">
                <a:solidFill>
                  <a:srgbClr val="10261D"/>
                </a:solidFill>
                <a:latin typeface="Impact"/>
                <a:ea typeface="Impact"/>
                <a:cs typeface="Impact"/>
              </a:rPr>
              <a:t>梅家坞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EBB5318-30A4-4A2A-8DF6-8CC4F154F21C}"/>
              </a:ext>
            </a:extLst>
          </p:cNvPr>
          <p:cNvSpPr>
            <a:spLocks noGrp="1"/>
          </p:cNvSpPr>
          <p:nvPr/>
        </p:nvSpPr>
        <p:spPr>
          <a:xfrm>
            <a:off x="614274" y="2436456"/>
            <a:ext cx="38100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7500">
                <a:solidFill>
                  <a:srgbClr val="B9E769"/>
                </a:solidFill>
                <a:latin typeface="Impact"/>
                <a:ea typeface="Impact"/>
                <a:cs typeface="Impact"/>
              </a:rPr>
              <a:t>茶园试点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C3742AE-023F-4C60-98CC-41E768AD84F4}"/>
              </a:ext>
            </a:extLst>
          </p:cNvPr>
          <p:cNvSpPr>
            <a:spLocks noGrp="1"/>
          </p:cNvSpPr>
          <p:nvPr/>
        </p:nvSpPr>
        <p:spPr>
          <a:xfrm>
            <a:off x="595224" y="2417406"/>
            <a:ext cx="38100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7500">
                <a:solidFill>
                  <a:srgbClr val="0B5D3B"/>
                </a:solidFill>
                <a:latin typeface="Impact"/>
                <a:ea typeface="Impact"/>
                <a:cs typeface="Impact"/>
              </a:rPr>
              <a:t>茶园试点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99FD5F0-89B3-445A-864C-0B8636987CE2}"/>
              </a:ext>
            </a:extLst>
          </p:cNvPr>
          <p:cNvSpPr>
            <a:spLocks noGrp="1"/>
          </p:cNvSpPr>
          <p:nvPr/>
        </p:nvSpPr>
        <p:spPr>
          <a:xfrm>
            <a:off x="614274" y="3484206"/>
            <a:ext cx="19050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7500">
                <a:solidFill>
                  <a:srgbClr val="0B5D3B"/>
                </a:solidFill>
                <a:latin typeface="Impact"/>
                <a:ea typeface="Impact"/>
                <a:cs typeface="Impact"/>
              </a:rPr>
              <a:t>计划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4C0D842-9702-4FA0-ACCB-771CB8C0D46E}"/>
              </a:ext>
            </a:extLst>
          </p:cNvPr>
          <p:cNvSpPr>
            <a:spLocks noGrp="1"/>
          </p:cNvSpPr>
          <p:nvPr/>
        </p:nvSpPr>
        <p:spPr>
          <a:xfrm>
            <a:off x="595224" y="3465156"/>
            <a:ext cx="1905000" cy="1257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7500">
                <a:solidFill>
                  <a:srgbClr val="10261D"/>
                </a:solidFill>
                <a:latin typeface="Impact"/>
                <a:ea typeface="Impact"/>
                <a:cs typeface="Impact"/>
              </a:rPr>
              <a:t>计划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97297309-CCE0-4DC7-BB35-3A4A36E42A7B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6286500" cy="121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9A74EE98-DFD6-4886-817E-ACE372585E00}"/>
              </a:ext>
            </a:extLst>
          </p:cNvPr>
          <p:cNvSpPr>
            <a:spLocks noGrp="1"/>
          </p:cNvSpPr>
          <p:nvPr/>
        </p:nvSpPr>
        <p:spPr>
          <a:xfrm>
            <a:off x="600075" y="4762500"/>
            <a:ext cx="6286500" cy="12192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DEA2F093-4BA7-4062-B3E9-A7F9C685FF78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6286500" cy="121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1A921C1-F55D-4EBE-8F53-3B4F3B629765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000750" cy="1028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00"/>
            </a:pPr>
            <a:r>
              <a:rPr sz="16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试用与改进：邀请梅家坞农户在真实生产中使用小程序，</a:t>
            </a:r>
          </a:p>
          <a:p>
            <a:pPr algn="l">
              <a:lnSpc>
                <a:spcPct val="104000"/>
              </a:lnSpc>
              <a:buNone/>
              <a:defRPr sz="1500"/>
            </a:pPr>
            <a:r>
              <a:rPr sz="16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记录预警是否及时、建议是否可执行，</a:t>
            </a:r>
          </a:p>
          <a:p>
            <a:pPr algn="l">
              <a:lnSpc>
                <a:spcPct val="104000"/>
              </a:lnSpc>
              <a:buNone/>
              <a:defRPr sz="1500"/>
            </a:pPr>
            <a:r>
              <a:rPr sz="1600">
                <a:solidFill>
                  <a:srgbClr val="F5EFE0"/>
                </a:solidFill>
                <a:latin typeface="Impact"/>
                <a:ea typeface="Impact"/>
                <a:cs typeface="Impact"/>
              </a:rPr>
              <a:t>根据反馈调整风险阈值和交互方式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44BC21B2-E9C1-4C2E-A368-B30714602757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57150" cy="12192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1710FE3F-B6B1-4129-86E3-D324BF7547B6}"/>
              </a:ext>
            </a:extLst>
          </p:cNvPr>
          <p:cNvSpPr>
            <a:spLocks noGrp="1"/>
          </p:cNvSpPr>
          <p:nvPr/>
        </p:nvSpPr>
        <p:spPr>
          <a:xfrm>
            <a:off x="571500" y="6019800"/>
            <a:ext cx="6286500" cy="723900"/>
          </a:xfrm>
          <a:prstGeom prst="rect">
            <a:avLst/>
          </a:prstGeom>
          <a:solidFill>
            <a:srgbClr val="25C58A"/>
          </a:solidFill>
          <a:ln>
            <a:noFill/>
          </a:ln>
        </p:spPr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37142D0-9D10-4789-86BF-334A01165093}"/>
              </a:ext>
            </a:extLst>
          </p:cNvPr>
          <p:cNvSpPr>
            <a:spLocks noGrp="1"/>
          </p:cNvSpPr>
          <p:nvPr/>
        </p:nvSpPr>
        <p:spPr>
          <a:xfrm>
            <a:off x="742950" y="6038850"/>
            <a:ext cx="600075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00"/>
            </a:defPPr>
            <a:lvl1pPr>
              <a:buNone/>
              <a:defRPr sz="1500"/>
            </a:lvl1pPr>
            <a:lvl2pPr>
              <a:buNone/>
              <a:defRPr sz="1500"/>
            </a:lvl2pPr>
            <a:lvl3pPr>
              <a:buNone/>
              <a:defRPr sz="15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algn="l">
              <a:lnSpc>
                <a:spcPct val="100000"/>
              </a:lnSpc>
              <a:buNone/>
              <a:defRPr sz="1500"/>
            </a:pPr>
            <a:r>
              <a:rPr sz="15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完成一个茶季试用并确认预警准确性、建议可执行性和农户使用反馈后，</a:t>
            </a:r>
          </a:p>
          <a:p>
            <a:pPr algn="l">
              <a:lnSpc>
                <a:spcPct val="100000"/>
              </a:lnSpc>
              <a:buNone/>
              <a:defRPr sz="1500"/>
            </a:pPr>
            <a:r>
              <a:rPr sz="15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上线高级预警、多地块管理、历史分析和定制提醒，</a:t>
            </a:r>
          </a:p>
          <a:p>
            <a:pPr algn="l">
              <a:lnSpc>
                <a:spcPct val="100000"/>
              </a:lnSpc>
              <a:buNone/>
              <a:defRPr sz="1500"/>
            </a:pPr>
            <a:r>
              <a:rPr sz="15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再逐步推广到其他茶园</a:t>
            </a:r>
          </a:p>
        </p:txBody>
      </p:sp>
    </p:spTree>
    <p:extLst>
      <p:ext uri="{BB962C8B-B14F-4D97-AF65-F5344CB8AC3E}">
        <p14:creationId xmlns:p14="http://schemas.microsoft.com/office/powerpoint/2010/main" val="1075910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DocSecurity>0</DocSecurity>
  <PresentationFormat>宽屏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Impact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诺 徐</cp:lastModifiedBy>
  <cp:revision>1</cp:revision>
  <dcterms:created xsi:type="dcterms:W3CDTF">2026-10-17T01:11:35Z</dcterms:created>
  <dcterms:modified xsi:type="dcterms:W3CDTF">2026-10-18T02:45:01Z</dcterms:modified>
</cp:coreProperties>
</file>